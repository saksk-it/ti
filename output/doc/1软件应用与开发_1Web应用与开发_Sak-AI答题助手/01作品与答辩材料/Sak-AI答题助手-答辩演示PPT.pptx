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30352"/>
            <a:ext cx="2103120" cy="310896"/>
          </a:xfrm>
          <a:prstGeom prst="roundRect">
            <a:avLst>
              <a:gd name="adj" fmla="val 35000"/>
            </a:avLst>
          </a:prstGeom>
          <a:solidFill>
            <a:srgbClr val="1E2D4C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585216"/>
            <a:ext cx="18836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DE7FF"/>
                </a:solidFill>
                <a:latin typeface="微软雅黑"/>
              </a:rPr>
              <a:t>Web 应用为主体</a:t>
            </a:r>
            <a:endParaRPr sz="1250" b="1" i="0">
              <a:solidFill>
                <a:srgbClr val="DDE7FF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495" y="1078865"/>
            <a:ext cx="5550535" cy="115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微软雅黑"/>
              </a:rPr>
              <a:t>Sak-AI答题助手</a:t>
            </a:r>
            <a:endParaRPr sz="2900" b="1" i="0">
              <a:solidFill>
                <a:srgbClr val="FFFFFF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9E5F5"/>
                </a:solidFill>
                <a:latin typeface="微软雅黑"/>
              </a:rPr>
              <a:t>面向备考学习与题库运营场景的单仓全栈 Web 应用</a:t>
            </a:r>
            <a:endParaRPr sz="1500" b="0" i="0">
              <a:solidFill>
                <a:srgbClr val="D9E5F5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8C7DC"/>
                </a:solidFill>
                <a:latin typeface="微软雅黑"/>
              </a:rPr>
              <a:t>题库广场｜个人题库｜刷题练习｜模拟考试｜数据中心｜论坛互动｜后台管理</a:t>
            </a:r>
            <a:endParaRPr sz="1250" b="0" i="0">
              <a:solidFill>
                <a:srgbClr val="B8C7DC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2788920"/>
            <a:ext cx="42062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ECF3FF"/>
                </a:solidFill>
                <a:latin typeface="微软雅黑"/>
              </a:rPr>
              <a:t>不是单一刷题页面，而是围绕“题库沉淀—训练—复盘—运营”构建的完整业务系统。</a:t>
            </a:r>
            <a:endParaRPr sz="1600" b="0" i="0">
              <a:solidFill>
                <a:srgbClr val="ECF3FF"/>
              </a:solidFill>
              <a:latin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59351"/>
            <a:ext cx="11155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12+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86968" y="4389119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业务模块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0260" y="4662805"/>
            <a:ext cx="1447800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Blueprint 按边界拆分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359152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3959351"/>
            <a:ext cx="11155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2 端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587752" y="4389119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共享语义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68880" y="4662805"/>
            <a:ext cx="1447800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Web + 微信原生小程序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059936" y="3822191"/>
            <a:ext cx="1572768" cy="111556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3959351"/>
            <a:ext cx="11155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Docker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88536" y="4389119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可复现部署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88536" y="4690871"/>
            <a:ext cx="111556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web / worker / postgres / redis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5321808"/>
            <a:ext cx="237744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76672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微软雅黑"/>
              </a:rPr>
              <a:t>赛道：软件应用与开发｜Web 应用与开发</a:t>
            </a:r>
            <a:endParaRPr sz="1100" b="1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154680" y="5321808"/>
            <a:ext cx="2331720" cy="310896"/>
          </a:xfrm>
          <a:prstGeom prst="roundRect">
            <a:avLst>
              <a:gd name="adj" fmla="val 35000"/>
            </a:avLst>
          </a:prstGeom>
          <a:solidFill>
            <a:srgbClr val="172554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4408" y="5376672"/>
            <a:ext cx="21122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D9E5F5"/>
                </a:solidFill>
                <a:latin typeface="微软雅黑"/>
              </a:rPr>
              <a:t>正式访问：https://saksk.top</a:t>
            </a:r>
            <a:endParaRPr sz="1100" b="1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10528" y="640080"/>
            <a:ext cx="506577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首页工作台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10782" y="3928237"/>
            <a:ext cx="3337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数据中心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26" name="Picture 25" descr="数据中心-548x3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655" y="4110990"/>
            <a:ext cx="3858260" cy="251587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D6DFEC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01</a:t>
            </a:r>
            <a:endParaRPr sz="1100" b="1" i="0">
              <a:solidFill>
                <a:srgbClr val="F8FAFC"/>
              </a:solidFill>
              <a:latin typeface="Aptos"/>
            </a:endParaRP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655" y="914400"/>
            <a:ext cx="385826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PAIN POINTS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问题背景与需求洞察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从单点刷题工具走向完整学习闭环，是本作品的切入点。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039111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48255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25296" y="2020823"/>
            <a:ext cx="27249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资源分散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3"/>
            <a:ext cx="3145536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公共题库、个人题库、课程练习常常分散存在，难以沉淀为持续可复用的学习资产。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8368" y="3401568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35661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75304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25296" y="3547872"/>
            <a:ext cx="27249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训练断层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" y="3913632"/>
            <a:ext cx="3145536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用户能刷题，但难以把练习、考试、错题复盘和阶段统计串成一条连续的成长链路。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" y="4928616"/>
            <a:ext cx="3474720" cy="1353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5093208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02352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25296" y="5074920"/>
            <a:ext cx="27249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管理割裂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60" y="5440680"/>
            <a:ext cx="3145536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教师或运营侧需要统一的内容管理、数据反馈与社区支撑，传统工具往往只覆盖学习端。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370832" y="1874519"/>
            <a:ext cx="7132320" cy="44074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45152" y="2121408"/>
            <a:ext cx="1353312" cy="292608"/>
          </a:xfrm>
          <a:prstGeom prst="roundRect">
            <a:avLst>
              <a:gd name="adj" fmla="val 35000"/>
            </a:avLst>
          </a:prstGeom>
          <a:solidFill>
            <a:srgbClr val="EDF3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762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微软雅黑"/>
              </a:rPr>
              <a:t>Sak-AI 的回答</a:t>
            </a:r>
            <a:endParaRPr sz="1150" b="1" i="0">
              <a:solidFill>
                <a:srgbClr val="4F6EF7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45152" y="2542032"/>
            <a:ext cx="62179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微软雅黑"/>
              </a:rPr>
              <a:t>以 Web 应用为核心入口，承载完整业务流程。</a:t>
            </a:r>
            <a:endParaRPr sz="18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统一承接题库广场、个人题库、刷题、考试、数据中心、论坛与后台。</a:t>
            </a:r>
            <a:endParaRPr sz="130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通过单仓全栈架构，让学习端与运营端共用一套后端与数据语义。</a:t>
            </a:r>
            <a:endParaRPr sz="130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以微信原生小程序补足移动高频场景，而不是另起一套割裂系统。</a:t>
            </a:r>
            <a:endParaRPr sz="130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以 AI 题目解析增强讲解与复盘体验，提升持续学习效率。</a:t>
            </a:r>
            <a:endParaRPr sz="1300" b="0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645152" y="5167503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5304663"/>
            <a:ext cx="141731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Web</a:t>
            </a:r>
            <a:endParaRPr sz="24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873752" y="5734431"/>
            <a:ext cx="14173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主体交互端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873752" y="6036183"/>
            <a:ext cx="141731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SSR + 原生 JS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684264" y="5167503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2864" y="5304663"/>
            <a:ext cx="141731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Mini</a:t>
            </a:r>
            <a:endParaRPr sz="2400" b="1" i="0">
              <a:solidFill>
                <a:srgbClr val="5BC0BE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912864" y="5734431"/>
            <a:ext cx="14173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移动延展端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912864" y="6036183"/>
            <a:ext cx="141731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微信原生 TS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723376" y="5167503"/>
            <a:ext cx="1874519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1976" y="5304663"/>
            <a:ext cx="141731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AI</a:t>
            </a:r>
            <a:endParaRPr sz="2400" b="1" i="0">
              <a:solidFill>
                <a:srgbClr val="D6B36A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951976" y="5734431"/>
            <a:ext cx="14173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辅助增强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951976" y="6036183"/>
            <a:ext cx="141731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题目解析与学习说明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02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POSITIONING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495" y="914400"/>
            <a:ext cx="8132445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作品定位：一套系统，服务学习者与管理者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Web 为主、小程序为辅，共享同一后端语义与学习数据。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3337560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121407"/>
            <a:ext cx="7863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微软雅黑"/>
              </a:rPr>
              <a:t>学习端</a:t>
            </a:r>
            <a:endParaRPr sz="1250" b="1" i="0">
              <a:solidFill>
                <a:srgbClr val="4F6EF7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27432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微软雅黑"/>
              </a:rPr>
              <a:t>题库浏览与沉淀</a:t>
            </a:r>
            <a:endParaRPr sz="17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微软雅黑"/>
              </a:rPr>
              <a:t>公共题库 + 个人题库双线并行，支持加入、整理与长期复用。</a:t>
            </a:r>
            <a:endParaRPr sz="1260" b="0" i="0">
              <a:solidFill>
                <a:srgbClr val="62748A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微软雅黑"/>
              </a:rPr>
              <a:t>练习与考试闭环</a:t>
            </a:r>
            <a:endParaRPr sz="17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微软雅黑"/>
              </a:rPr>
              <a:t>错题、收藏、用户答案、考试记录与学习进度持续沉淀。</a:t>
            </a:r>
            <a:endParaRPr sz="1260" b="0" i="0">
              <a:solidFill>
                <a:srgbClr val="62748A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微软雅黑"/>
              </a:rPr>
              <a:t>可视化复盘</a:t>
            </a:r>
            <a:endParaRPr sz="17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62748A"/>
                </a:solidFill>
                <a:latin typeface="微软雅黑"/>
              </a:rPr>
              <a:t>数据中心用趋势图、热力图与能力画像，让反馈可见。</a:t>
            </a:r>
            <a:endParaRPr sz="126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87952" y="1828800"/>
            <a:ext cx="3886200" cy="4480560"/>
          </a:xfrm>
          <a:prstGeom prst="roundRect">
            <a:avLst>
              <a:gd name="adj" fmla="val 18000"/>
            </a:avLst>
          </a:prstGeom>
          <a:solidFill>
            <a:srgbClr val="F8FB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2066543"/>
            <a:ext cx="1188720" cy="292608"/>
          </a:xfrm>
          <a:prstGeom prst="roundRect">
            <a:avLst>
              <a:gd name="adj" fmla="val 35000"/>
            </a:avLst>
          </a:prstGeom>
          <a:solidFill>
            <a:srgbClr val="EAF2FF"/>
          </a:solidFill>
          <a:ln w="12700">
            <a:solidFill>
              <a:srgbClr val="D5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21407"/>
            <a:ext cx="96926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微软雅黑"/>
              </a:rPr>
              <a:t>共享语义核心</a:t>
            </a:r>
            <a:endParaRPr sz="1250" b="1" i="0">
              <a:solidFill>
                <a:srgbClr val="4F6EF7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53712" y="2633472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706624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  <a:endParaRPr sz="13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97296" y="2615184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微软雅黑"/>
              </a:rPr>
              <a:t>题库资源</a:t>
            </a:r>
            <a:endParaRPr sz="132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97296" y="2816352"/>
            <a:ext cx="18745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微软雅黑"/>
              </a:rPr>
              <a:t>公共题库 / 个人题库</a:t>
            </a:r>
            <a:endParaRPr sz="106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8" name="Chevron 17"/>
          <p:cNvSpPr/>
          <p:nvPr/>
        </p:nvSpPr>
        <p:spPr>
          <a:xfrm>
            <a:off x="4974336" y="3054096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53712" y="3438144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51129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  <a:endParaRPr sz="13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797296" y="3419856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微软雅黑"/>
              </a:rPr>
              <a:t>刷题训练</a:t>
            </a:r>
            <a:endParaRPr sz="132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97296" y="3621024"/>
            <a:ext cx="18745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微软雅黑"/>
              </a:rPr>
              <a:t>答案、收藏、错题、进度</a:t>
            </a:r>
            <a:endParaRPr sz="106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3" name="Chevron 22"/>
          <p:cNvSpPr/>
          <p:nvPr/>
        </p:nvSpPr>
        <p:spPr>
          <a:xfrm>
            <a:off x="4974336" y="3858768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53712" y="4242816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315968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  <a:endParaRPr sz="13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797296" y="422452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微软雅黑"/>
              </a:rPr>
              <a:t>考试评估</a:t>
            </a:r>
            <a:endParaRPr sz="132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797296" y="4425696"/>
            <a:ext cx="18745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微软雅黑"/>
              </a:rPr>
              <a:t>模拟考试与结果沉淀</a:t>
            </a:r>
            <a:endParaRPr sz="106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8" name="Chevron 27"/>
          <p:cNvSpPr/>
          <p:nvPr/>
        </p:nvSpPr>
        <p:spPr>
          <a:xfrm>
            <a:off x="4974336" y="4663440"/>
            <a:ext cx="201168" cy="256032"/>
          </a:xfrm>
          <a:prstGeom prst="chevron">
            <a:avLst/>
          </a:prstGeom>
          <a:solidFill>
            <a:srgbClr val="D5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53712" y="5047488"/>
            <a:ext cx="1051560" cy="384048"/>
          </a:xfrm>
          <a:prstGeom prst="roundRect">
            <a:avLst>
              <a:gd name="adj" fmla="val 3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1206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  <a:endParaRPr sz="13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97296" y="5029200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20" b="1" i="0">
                <a:solidFill>
                  <a:srgbClr val="102A43"/>
                </a:solidFill>
                <a:latin typeface="微软雅黑"/>
              </a:rPr>
              <a:t>数据复盘</a:t>
            </a:r>
            <a:endParaRPr sz="132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797296" y="5230368"/>
            <a:ext cx="187451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60" b="0" i="0">
                <a:solidFill>
                  <a:srgbClr val="62748A"/>
                </a:solidFill>
                <a:latin typeface="微软雅黑"/>
              </a:rPr>
              <a:t>趋势、热力图、能力画像</a:t>
            </a:r>
            <a:endParaRPr sz="106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247888" y="1828800"/>
            <a:ext cx="3282696" cy="4480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22208" y="2066543"/>
            <a:ext cx="100584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2121407"/>
            <a:ext cx="7863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微软雅黑"/>
              </a:rPr>
              <a:t>运营端</a:t>
            </a:r>
            <a:endParaRPr sz="1250" b="1" i="0">
              <a:solidFill>
                <a:srgbClr val="34A58D"/>
              </a:solidFill>
              <a:latin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2487168"/>
            <a:ext cx="260604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微软雅黑"/>
              </a:rPr>
              <a:t>论坛互动</a:t>
            </a:r>
            <a:endParaRPr sz="17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微软雅黑"/>
              </a:rPr>
              <a:t>支持帖子浏览、交流讨论与学习社区沉淀。</a:t>
            </a:r>
            <a:endParaRPr sz="1240" b="0" i="0">
              <a:solidFill>
                <a:srgbClr val="62748A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微软雅黑"/>
              </a:rPr>
              <a:t>后台管理</a:t>
            </a:r>
            <a:endParaRPr sz="17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微软雅黑"/>
              </a:rPr>
              <a:t>题目、科目、用户与系统数据可统一查看与管理。</a:t>
            </a:r>
            <a:endParaRPr sz="1240" b="0" i="0">
              <a:solidFill>
                <a:srgbClr val="62748A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微软雅黑"/>
              </a:rPr>
              <a:t>移动延展</a:t>
            </a:r>
            <a:endParaRPr sz="170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62748A"/>
                </a:solidFill>
                <a:latin typeface="微软雅黑"/>
              </a:rPr>
              <a:t>微信小程序基于同一后端语义，承接随时随地学习场景。</a:t>
            </a:r>
            <a:endParaRPr sz="124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03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ARCHITECTURE</a:t>
            </a:r>
            <a:endParaRPr sz="1200" b="1" i="0">
              <a:solidFill>
                <a:srgbClr val="C7D2FE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495" y="914400"/>
            <a:ext cx="8275320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微软雅黑"/>
              </a:rPr>
              <a:t>系统架构：单仓全栈、双端共享、容器化可复现</a:t>
            </a:r>
            <a:endParaRPr sz="2800" b="1" i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微软雅黑"/>
              </a:rPr>
              <a:t>不是前后端分离多仓拼装，而是一套围绕业务模块组织的工程系统。</a:t>
            </a:r>
            <a:endParaRPr sz="1350" b="0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656832" y="1536192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系统架构图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8" name="Picture 7" descr="系统架构图-810x4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792224"/>
            <a:ext cx="4937760" cy="2944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56832" y="4718685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核心用户流程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10" name="Picture 9" descr="核心用户流程-810x2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4974717"/>
            <a:ext cx="4937760" cy="12984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1883664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2048256"/>
            <a:ext cx="310896" cy="310896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057400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225296" y="2029968"/>
            <a:ext cx="47183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应用层：Web + 微信原生小程序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2395728"/>
            <a:ext cx="5138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Web 采用 Flask + Jinja 服务端渲染，小程序采用微信原生 TS，两个端共享同一后端语义。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8368" y="2907792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3072384"/>
            <a:ext cx="310896" cy="310896"/>
          </a:xfrm>
          <a:prstGeom prst="ellipse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81528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25296" y="3054096"/>
            <a:ext cx="47183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服务层：Flask 应用工厂 + Blueprint 模块化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3419856"/>
            <a:ext cx="5138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已注册 auth、main、quiz、exam、user、chat、notifications、popups、coding、user_bank、forum、admin 等 12 个模块。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" y="3931920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05656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25296" y="4078224"/>
            <a:ext cx="47183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数据层：PostgreSQL + Redis + RQ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22960" y="4443984"/>
            <a:ext cx="5138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PostgreSQL 存储题库与学习数据，Redis 承担缓存/限流/队列，RQ Worker 处理后台任务。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58368" y="4956048"/>
            <a:ext cx="5468112" cy="8778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60" y="5120640"/>
            <a:ext cx="310896" cy="31089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9784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225296" y="5102352"/>
            <a:ext cx="47183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交付层：Docker Compose 开发编排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" y="5468112"/>
            <a:ext cx="5138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compose.dev.yml 统一拉起 web、worker、postgres、redis、backup，便于演示、复现与现场切换。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D6DFEC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04</a:t>
            </a:r>
            <a:endParaRPr sz="1100" b="1" i="0">
              <a:solidFill>
                <a:srgbClr val="F8FAF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CAPABILITIES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核心功能闭环：从题库沉淀到数据复盘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围绕学习者与运营者共同构建完整业务流程。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92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01</a:t>
            </a:r>
            <a:endParaRPr sz="115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1426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题库广场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2990088"/>
            <a:ext cx="1426464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微软雅黑"/>
              </a:rPr>
              <a:t>浏览系统题库与公开题库，快速进入学习入口。</a:t>
            </a:r>
            <a:endParaRPr sz="108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2432304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0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2331720"/>
            <a:ext cx="292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02</a:t>
            </a:r>
            <a:endParaRPr sz="1150" b="1" i="0">
              <a:solidFill>
                <a:srgbClr val="5BC0BE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724912" y="2624328"/>
            <a:ext cx="1426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个人题库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24912" y="2990088"/>
            <a:ext cx="1426464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微软雅黑"/>
              </a:rPr>
              <a:t>沉淀自建/已加入题库，形成个人长期资源库。</a:t>
            </a:r>
            <a:endParaRPr sz="108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8" name="Chevron 17"/>
          <p:cNvSpPr/>
          <p:nvPr/>
        </p:nvSpPr>
        <p:spPr>
          <a:xfrm>
            <a:off x="4334256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62272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2272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2331720"/>
            <a:ext cx="292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03</a:t>
            </a:r>
            <a:endParaRPr sz="1150" b="1" i="0">
              <a:solidFill>
                <a:srgbClr val="D6B36A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26864" y="2624328"/>
            <a:ext cx="1426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刷题训练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26864" y="2990088"/>
            <a:ext cx="1426464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微软雅黑"/>
              </a:rPr>
              <a:t>支持题目练习、收藏、错题与答案记录。</a:t>
            </a:r>
            <a:endParaRPr sz="108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4" name="Chevron 23"/>
          <p:cNvSpPr/>
          <p:nvPr/>
        </p:nvSpPr>
        <p:spPr>
          <a:xfrm>
            <a:off x="6236208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64224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64224" y="2148840"/>
            <a:ext cx="1755648" cy="73152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2331720"/>
            <a:ext cx="292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F6EF7"/>
                </a:solidFill>
                <a:latin typeface="Aptos"/>
              </a:rPr>
              <a:t>04</a:t>
            </a:r>
            <a:endParaRPr sz="115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28816" y="2624328"/>
            <a:ext cx="1426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模拟考试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28816" y="2990088"/>
            <a:ext cx="1426464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微软雅黑"/>
              </a:rPr>
              <a:t>按公共题库或个人题库发起考试训练。</a:t>
            </a:r>
            <a:endParaRPr sz="108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0" name="Chevron 29"/>
          <p:cNvSpPr/>
          <p:nvPr/>
        </p:nvSpPr>
        <p:spPr>
          <a:xfrm>
            <a:off x="8138160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66176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66176" y="2148840"/>
            <a:ext cx="1755648" cy="73152"/>
          </a:xfrm>
          <a:prstGeom prst="rect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2331720"/>
            <a:ext cx="292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5BC0BE"/>
                </a:solidFill>
                <a:latin typeface="Aptos"/>
              </a:rPr>
              <a:t>05</a:t>
            </a:r>
            <a:endParaRPr sz="1150" b="1" i="0">
              <a:solidFill>
                <a:srgbClr val="5BC0BE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430768" y="2624328"/>
            <a:ext cx="1426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数据中心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430768" y="2990088"/>
            <a:ext cx="1426464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微软雅黑"/>
              </a:rPr>
              <a:t>趋势图、热力图、能力画像帮助用户复盘。</a:t>
            </a:r>
            <a:endParaRPr sz="108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36" name="Chevron 35"/>
          <p:cNvSpPr/>
          <p:nvPr/>
        </p:nvSpPr>
        <p:spPr>
          <a:xfrm>
            <a:off x="10040112" y="2935224"/>
            <a:ext cx="109728" cy="329184"/>
          </a:xfrm>
          <a:prstGeom prst="chevron">
            <a:avLst/>
          </a:prstGeom>
          <a:solidFill>
            <a:srgbClr val="DC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68128" y="2148840"/>
            <a:ext cx="1755648" cy="19751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68128" y="2148840"/>
            <a:ext cx="1755648" cy="73152"/>
          </a:xfrm>
          <a:prstGeom prst="rect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20" y="2331720"/>
            <a:ext cx="29260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6B36A"/>
                </a:solidFill>
                <a:latin typeface="Aptos"/>
              </a:rPr>
              <a:t>06</a:t>
            </a:r>
            <a:endParaRPr sz="1150" b="1" i="0">
              <a:solidFill>
                <a:srgbClr val="D6B36A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332720" y="2624328"/>
            <a:ext cx="1426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论坛 / 后台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332720" y="2990088"/>
            <a:ext cx="1426464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62748A"/>
                </a:solidFill>
                <a:latin typeface="微软雅黑"/>
              </a:rPr>
              <a:t>支持交流互动与系统运营管理，形成支撑面。</a:t>
            </a:r>
            <a:endParaRPr sz="108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1078992" y="4800600"/>
            <a:ext cx="1005840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53312" y="5029200"/>
            <a:ext cx="9509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102A43"/>
                </a:solidFill>
                <a:latin typeface="微软雅黑"/>
              </a:rPr>
              <a:t>闭环价值：让“资源组织 → 高频训练 → 阶段评估 → 可视化复盘 → 社区互动 / 运营支撑”在同一系统中连续发生。</a:t>
            </a:r>
            <a:endParaRPr sz="155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05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A1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真实界面展示：首页工作台与题库广场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首页工作台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首页工作台-892x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题库广场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题库广场-849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06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A2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真实界面展示：题库详情与我的题库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分别对应公共题库详情入口与个人题库资源沉淀入口。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题库详情（名片页）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题库详情_名片页-892x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我的题库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我的题库-849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07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SHOWCASE B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真实界面展示：数据中心与考试中心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用更大的页面面积呈现复盘分析与考试入口。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5046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数据中心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数据中心-903x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5504688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7648" y="1572768"/>
            <a:ext cx="520293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考试中心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考试中心-854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828800"/>
            <a:ext cx="5202936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08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QUIZ + AI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刷题模块：答题工作台与 AI 解析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重点展示评委最关心的刷题界面、题目卡片与即时 AI 解析能力。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674827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刷题工作台 + AI解析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刷题工作台___AI解析-1107x7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10512"/>
            <a:ext cx="6748272" cy="44074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44383" y="1883664"/>
            <a:ext cx="3904487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36992" y="2139696"/>
            <a:ext cx="1225296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9456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微软雅黑"/>
              </a:rPr>
              <a:t>答题体验</a:t>
            </a:r>
            <a:endParaRPr sz="1250" b="1" i="0">
              <a:solidFill>
                <a:srgbClr val="4F6EF7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936992" y="2578608"/>
            <a:ext cx="3127248" cy="261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微软雅黑"/>
              </a:rPr>
              <a:t>• 支持题目列表、答题卡片、前后切题与收藏。</a:t>
            </a:r>
            <a:endParaRPr sz="128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微软雅黑"/>
              </a:rPr>
              <a:t>• AI 解析按题触发，直接嵌入答题工作流。</a:t>
            </a:r>
            <a:endParaRPr sz="128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微软雅黑"/>
              </a:rPr>
              <a:t>• 页面采用独立答题布局，便于沉浸式练习。</a:t>
            </a:r>
            <a:endParaRPr sz="128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17324D"/>
                </a:solidFill>
                <a:latin typeface="微软雅黑"/>
              </a:rPr>
              <a:t>• 对评委而言，这一页能直接证明系统不是静态展示页，而是真实可交互的练习系统。</a:t>
            </a:r>
            <a:endParaRPr sz="1280" b="0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36992" y="5014468"/>
            <a:ext cx="1481328" cy="8046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5151628"/>
            <a:ext cx="10241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AI</a:t>
            </a:r>
            <a:endParaRPr sz="24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65592" y="5581396"/>
            <a:ext cx="10241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即时解析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65592" y="5883148"/>
            <a:ext cx="10241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按题触发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555480" y="5014468"/>
            <a:ext cx="1481328" cy="8046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5151628"/>
            <a:ext cx="102412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Flow</a:t>
            </a:r>
            <a:endParaRPr sz="2400" b="1" i="0">
              <a:solidFill>
                <a:srgbClr val="5BC0BE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784080" y="5581396"/>
            <a:ext cx="10241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连续练习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784080" y="5883275"/>
            <a:ext cx="1481455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列表 / 卡片 / 解析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09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AI GRADING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495" y="914400"/>
            <a:ext cx="8427720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主观题判分：有答即对、AI 判分、自评模式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565099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主观题判分设置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主观题判分设置-927x7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10512"/>
            <a:ext cx="5650992" cy="44074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47104" y="1883664"/>
            <a:ext cx="5010912" cy="431596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03136" y="2176272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67728" y="2340864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350008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70064" y="232257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有答即对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967728" y="2688336"/>
            <a:ext cx="415137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适合快速刷题场景，主观题填写后即可继续推进流程。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03136" y="3255264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67728" y="3419856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7728" y="3429000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70064" y="3401568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AI 判分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67728" y="3767328"/>
            <a:ext cx="415137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调用 AI 对主观题作答进行智能评判，并与后台 AI 配置形成呼应。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803136" y="4334256"/>
            <a:ext cx="448056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67728" y="4498848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4507992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70064" y="4480560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自评模式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67728" y="4846320"/>
            <a:ext cx="415137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展示参考答案后由学习者自评，更适合开放题与复盘型训练。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10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FORUM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论坛模块：社区首页到帖子详情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帖子列表与帖子阅读都使用更大的图片面积，便于看清结构与信息层次。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3583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论坛首页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论坛首页-879x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5358384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72784" y="1572768"/>
            <a:ext cx="5285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论坛帖子详情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论坛帖子详情-867x708.png"/>
          <p:cNvPicPr>
            <a:picLocks noChangeAspect="1"/>
          </p:cNvPicPr>
          <p:nvPr/>
        </p:nvPicPr>
        <p:blipFill>
          <a:blip r:embed="rId3"/>
          <a:srcRect t="12697" r="-12" b="11652"/>
          <a:stretch>
            <a:fillRect/>
          </a:stretch>
        </p:blipFill>
        <p:spPr>
          <a:xfrm>
            <a:off x="6272530" y="2376805"/>
            <a:ext cx="5285740" cy="32651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11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CHAT</a:t>
            </a:r>
            <a:endParaRPr sz="1200" b="1" i="0">
              <a:solidFill>
                <a:srgbClr val="C7D2FE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微软雅黑"/>
              </a:rPr>
              <a:t>聊天模块：会话、搜索与互动内容承接</a:t>
            </a:r>
            <a:endParaRPr sz="2800" b="1" i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6766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聊天界面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8" name="Picture 7" descr="聊天界面-1110x7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38452"/>
            <a:ext cx="6766560" cy="44074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62672" y="1901952"/>
            <a:ext cx="3840480" cy="422452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139696"/>
            <a:ext cx="1207008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7" y="2194560"/>
            <a:ext cx="9875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微软雅黑"/>
              </a:rPr>
              <a:t>交互能力</a:t>
            </a:r>
            <a:endParaRPr sz="1250" b="1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955279" y="2578608"/>
            <a:ext cx="31638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AF1FF"/>
                </a:solidFill>
                <a:latin typeface="微软雅黑"/>
              </a:rPr>
              <a:t>搜索用户后可直接发起讨论。</a:t>
            </a:r>
            <a:endParaRPr sz="1300" b="1" i="0">
              <a:solidFill>
                <a:srgbClr val="EAF1FF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微软雅黑"/>
              </a:rPr>
              <a:t>• 会话列表区分消息与互动。</a:t>
            </a:r>
            <a:endParaRPr sz="1240" b="0" i="0">
              <a:solidFill>
                <a:srgbClr val="D9E5F5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微软雅黑"/>
              </a:rPr>
              <a:t>• 消息类型覆盖图片、语音、题目与帖子转发。</a:t>
            </a:r>
            <a:endParaRPr sz="1240" b="0" i="0">
              <a:solidFill>
                <a:srgbClr val="D9E5F5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40" b="0" i="0">
                <a:solidFill>
                  <a:srgbClr val="D9E5F5"/>
                </a:solidFill>
                <a:latin typeface="微软雅黑"/>
              </a:rPr>
              <a:t>• 与论坛、个人资料等模块形成联动。</a:t>
            </a:r>
            <a:endParaRPr sz="1240" b="0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955279" y="4928997"/>
            <a:ext cx="1572768" cy="822960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5066157"/>
            <a:ext cx="11155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IM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83879" y="5495925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消息流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83879" y="5797677"/>
            <a:ext cx="111556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会话 / 搜索 / 发送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656064" y="4928997"/>
            <a:ext cx="1572768" cy="822960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84664" y="5066157"/>
            <a:ext cx="111556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Link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884664" y="5495925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内容互通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884664" y="5797677"/>
            <a:ext cx="111556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题目 / 帖子 / 图片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D6DFEC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12</a:t>
            </a:r>
            <a:endParaRPr sz="1100" b="1" i="0">
              <a:solidFill>
                <a:srgbClr val="F8FAF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IMPORT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495" y="914400"/>
            <a:ext cx="8593455" cy="49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个人题目导入：题目管理 + Word 工作区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个人题库不只是存储入口，还提供完整的题目导入与维护流程。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2003298"/>
            <a:ext cx="5468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个人题目管理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个人题目管理-897x708.png"/>
          <p:cNvPicPr>
            <a:picLocks noChangeAspect="1"/>
          </p:cNvPicPr>
          <p:nvPr/>
        </p:nvPicPr>
        <p:blipFill>
          <a:blip r:embed="rId2"/>
          <a:srcRect t="9975" r="-1126" b="10975"/>
          <a:stretch>
            <a:fillRect/>
          </a:stretch>
        </p:blipFill>
        <p:spPr>
          <a:xfrm>
            <a:off x="658495" y="2259330"/>
            <a:ext cx="5529580" cy="34118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16421" y="2008378"/>
            <a:ext cx="5212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Word 导入工作区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Word_导入工作区-855x708.png"/>
          <p:cNvPicPr>
            <a:picLocks noChangeAspect="1"/>
          </p:cNvPicPr>
          <p:nvPr/>
        </p:nvPicPr>
        <p:blipFill>
          <a:blip r:embed="rId3"/>
          <a:srcRect t="12697" r="-1352" b="12344"/>
          <a:stretch>
            <a:fillRect/>
          </a:stretch>
        </p:blipFill>
        <p:spPr>
          <a:xfrm>
            <a:off x="6346190" y="2259330"/>
            <a:ext cx="5282565" cy="32353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13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ADMIN A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后台管理：仪表盘与题目管理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后台页面同样改为大图展示，避免关键信息读不清。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后台仪表盘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8" name="Picture 7" descr="后台仪表盘-892x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后台题目管理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后台题目管理-849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14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ADMIN B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后台管理：论坛治理与 AI 配置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进一步展示内容治理与系统配置层能力。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440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后台论坛管理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8" name="Picture 7" descr="后台论坛管理-892x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5440680" cy="431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1572768"/>
            <a:ext cx="51755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324D"/>
                </a:solidFill>
                <a:latin typeface="微软雅黑"/>
              </a:rPr>
              <a:t>后台 AI 配置</a:t>
            </a:r>
            <a:endParaRPr sz="1150" b="1" i="0">
              <a:solidFill>
                <a:srgbClr val="17324D"/>
              </a:solidFill>
              <a:latin typeface="微软雅黑"/>
            </a:endParaRPr>
          </a:p>
        </p:txBody>
      </p:sp>
      <p:pic>
        <p:nvPicPr>
          <p:cNvPr id="10" name="Picture 9" descr="后台_AI_配置-849x7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175504" cy="4315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15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7D2FE"/>
                </a:solidFill>
                <a:latin typeface="Aptos"/>
              </a:rPr>
              <a:t>CROSS-END</a:t>
            </a:r>
            <a:endParaRPr sz="1200" b="1" i="0">
              <a:solidFill>
                <a:srgbClr val="C7D2FE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微软雅黑"/>
              </a:rPr>
              <a:t>双端协同：Web 主体 + 小程序延展</a:t>
            </a:r>
            <a:endParaRPr sz="2800" b="1" i="0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D9E5F5"/>
                </a:solidFill>
                <a:latin typeface="微软雅黑"/>
              </a:rPr>
              <a:t>展示主体是 Web；移动端延展同样复用同一套后端与数据语义。</a:t>
            </a:r>
            <a:endParaRPr sz="1350" b="0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7" name="Picture 6" descr="phone_339x7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55648"/>
            <a:ext cx="2066543" cy="4407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10128" y="1755648"/>
            <a:ext cx="40782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Web 首页（响应式壳层）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9" name="Picture 8" descr="Web_首页_响应式壳层-669x4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2011680"/>
            <a:ext cx="4078224" cy="2743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62672" y="1883664"/>
            <a:ext cx="3886200" cy="4297680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24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2139696"/>
            <a:ext cx="1325880" cy="292608"/>
          </a:xfrm>
          <a:prstGeom prst="roundRect">
            <a:avLst>
              <a:gd name="adj" fmla="val 35000"/>
            </a:avLst>
          </a:prstGeom>
          <a:solidFill>
            <a:srgbClr val="243656"/>
          </a:solidFill>
          <a:ln w="12700">
            <a:solidFill>
              <a:srgbClr val="3952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7" y="2194560"/>
            <a:ext cx="11064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D9E5F5"/>
                </a:solidFill>
                <a:latin typeface="微软雅黑"/>
              </a:rPr>
              <a:t>共享关键语义</a:t>
            </a:r>
            <a:endParaRPr sz="1250" b="1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955279" y="2578608"/>
            <a:ext cx="315468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收藏 / 错题 / 用户答案 / 用户进度 / 模拟考试</a:t>
            </a:r>
            <a:endParaRPr sz="1600" b="1" i="0">
              <a:solidFill>
                <a:srgbClr val="FFFFFF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微软雅黑"/>
              </a:rPr>
              <a:t>• Web 端承担主要交互与展示，是参赛主体。</a:t>
            </a:r>
            <a:endParaRPr sz="1280" b="0" i="0">
              <a:solidFill>
                <a:srgbClr val="D9E5F5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微软雅黑"/>
              </a:rPr>
              <a:t>• 小程序按高频移动学习场景延展，减少语义割裂。</a:t>
            </a:r>
            <a:endParaRPr sz="1280" b="0" i="0">
              <a:solidFill>
                <a:srgbClr val="D9E5F5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D9E5F5"/>
                </a:solidFill>
                <a:latin typeface="微软雅黑"/>
              </a:rPr>
              <a:t>• 统一经过后端与接口封装，降低维护与演示成本。</a:t>
            </a:r>
            <a:endParaRPr sz="1280" b="0" i="0">
              <a:solidFill>
                <a:srgbClr val="D9E5F5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955279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5367528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SSR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83879" y="5797296"/>
            <a:ext cx="113385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Web 形态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183879" y="6099048"/>
            <a:ext cx="11338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Flask + Jinja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46920" y="5230368"/>
            <a:ext cx="1591056" cy="841248"/>
          </a:xfrm>
          <a:prstGeom prst="roundRect">
            <a:avLst>
              <a:gd name="adj" fmla="val 22000"/>
            </a:avLst>
          </a:prstGeom>
          <a:solidFill>
            <a:srgbClr val="0F172A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367528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ptos"/>
              </a:rPr>
              <a:t>JWT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875520" y="5797296"/>
            <a:ext cx="113385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D7DEEA"/>
                </a:solidFill>
                <a:latin typeface="微软雅黑"/>
              </a:rPr>
              <a:t>API / 小程序</a:t>
            </a:r>
            <a:endParaRPr sz="1250" b="1" i="0">
              <a:solidFill>
                <a:srgbClr val="D7DEEA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875520" y="6099048"/>
            <a:ext cx="11338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FB0C7"/>
                </a:solidFill>
                <a:latin typeface="微软雅黑"/>
              </a:rPr>
              <a:t>Bearer Token</a:t>
            </a:r>
            <a:endParaRPr sz="1050" b="0" i="0">
              <a:solidFill>
                <a:srgbClr val="9FB0C7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D6DFEC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16</a:t>
            </a:r>
            <a:endParaRPr sz="1100" b="1" i="0">
              <a:solidFill>
                <a:srgbClr val="F8FAF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INNOVATION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关键亮点：工程化表达与应用价值并重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在题库系统常见能力之外，重点强化共享语义、可复现交付与学习辅助增强。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2194560"/>
            <a:ext cx="310896" cy="310896"/>
          </a:xfrm>
          <a:prstGeom prst="ellipse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03704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25296" y="2176272"/>
            <a:ext cx="28163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共享数据语义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3236976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公共题库、个人题库、题目、收藏、错题、答案、进度、考试等能力在 Web 与小程序两端保持同一套后端语义，降低维护复杂度，也让学习记录真正可连续。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159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2194560"/>
            <a:ext cx="310896" cy="310896"/>
          </a:xfrm>
          <a:prstGeom prst="ellipse">
            <a:avLst/>
          </a:prstGeom>
          <a:solidFill>
            <a:srgbClr val="5BC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203704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82896" y="2176272"/>
            <a:ext cx="28163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Docker 化可复现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80560" y="2542032"/>
            <a:ext cx="3236976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开发环境默认通过 compose.dev.yml 统一拉起 web、worker、postgres、redis、backup。无论课堂演示、现场答辩还是后续交付，都能更稳定地复现运行环境。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973568" y="2029968"/>
            <a:ext cx="3566160" cy="36027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2194560"/>
            <a:ext cx="310896" cy="310896"/>
          </a:xfrm>
          <a:prstGeom prst="ellipse">
            <a:avLst/>
          </a:prstGeom>
          <a:solidFill>
            <a:srgbClr val="D6B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203704"/>
            <a:ext cx="3108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  <a:endParaRPr sz="12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281635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43"/>
                </a:solidFill>
                <a:latin typeface="微软雅黑"/>
              </a:rPr>
              <a:t>AI 学习辅助增强</a:t>
            </a:r>
            <a:endParaRPr sz="14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38160" y="2542032"/>
            <a:ext cx="3236976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62748A"/>
                </a:solidFill>
                <a:latin typeface="微软雅黑"/>
              </a:rPr>
              <a:t>围绕刷题流程补充 AI 解析、主观题判分与后台 AI 配置能力，让系统更贴近教学、练习与复盘的真实场景。</a:t>
            </a:r>
            <a:endParaRPr sz="112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17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light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F6EF7"/>
                </a:solidFill>
                <a:latin typeface="Aptos"/>
              </a:rPr>
              <a:t>VALIDATION</a:t>
            </a:r>
            <a:endParaRPr sz="12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58368" y="804672"/>
            <a:ext cx="694944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02A43"/>
                </a:solidFill>
                <a:latin typeface="微软雅黑"/>
              </a:rPr>
              <a:t>工程验证与答辩可演示性</a:t>
            </a:r>
            <a:endParaRPr sz="2800" b="1" i="0">
              <a:solidFill>
                <a:srgbClr val="102A43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71323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62748A"/>
                </a:solidFill>
                <a:latin typeface="微软雅黑"/>
              </a:rPr>
              <a:t>答辩现场不仅要讲清功能，还要展示项目具备稳定运行与工程交付能力。</a:t>
            </a:r>
            <a:endParaRPr sz="13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8000</a:t>
            </a:r>
            <a:endParaRPr sz="24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Web 暴露端口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86968" y="2788920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compose.dev.yml：flask run --reload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072384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057400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BC0BE"/>
                </a:solidFill>
                <a:latin typeface="Aptos"/>
              </a:rPr>
              <a:t>/api/ping</a:t>
            </a:r>
            <a:endParaRPr sz="2400" b="1" i="0">
              <a:solidFill>
                <a:srgbClr val="5BC0BE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00984" y="248716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健康检查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300984" y="2788920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支持基础与 deep=1 检查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486400" y="1920240"/>
            <a:ext cx="219456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2057400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6B36A"/>
                </a:solidFill>
                <a:latin typeface="Aptos"/>
              </a:rPr>
              <a:t>PostgreSQL 16</a:t>
            </a:r>
            <a:endParaRPr sz="2400" b="1" i="0">
              <a:solidFill>
                <a:srgbClr val="D6B36A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15000" y="248716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开发默认数据库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715000" y="2788920"/>
            <a:ext cx="1737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Redis + RQ 协同运行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900416" y="1920240"/>
            <a:ext cx="2743200" cy="122529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2057400"/>
            <a:ext cx="22860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4F6EF7"/>
                </a:solidFill>
                <a:latin typeface="Aptos"/>
              </a:rPr>
              <a:t>5 项服务</a:t>
            </a:r>
            <a:endParaRPr sz="2400" b="1" i="0">
              <a:solidFill>
                <a:srgbClr val="4F6EF7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29016" y="2487168"/>
            <a:ext cx="2286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324D"/>
                </a:solidFill>
                <a:latin typeface="微软雅黑"/>
              </a:rPr>
              <a:t>容器编排</a:t>
            </a:r>
            <a:endParaRPr sz="1250" b="1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29016" y="278892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2748A"/>
                </a:solidFill>
                <a:latin typeface="微软雅黑"/>
              </a:rPr>
              <a:t>web / worker / postgres / redis / backup</a:t>
            </a:r>
            <a:endParaRPr sz="1050" b="0" i="0">
              <a:solidFill>
                <a:srgbClr val="62748A"/>
              </a:solidFill>
              <a:latin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58368" y="3493008"/>
            <a:ext cx="525780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4FF"/>
          </a:solidFill>
          <a:ln w="12700"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85616"/>
            <a:ext cx="9235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4F6EF7"/>
                </a:solidFill>
                <a:latin typeface="微软雅黑"/>
              </a:rPr>
              <a:t>推荐演示顺序</a:t>
            </a:r>
            <a:endParaRPr sz="1250" b="1" i="0">
              <a:solidFill>
                <a:srgbClr val="4F6EF7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32688" y="4151376"/>
            <a:ext cx="4526280" cy="1664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60" b="1" i="0">
                <a:solidFill>
                  <a:srgbClr val="102A43"/>
                </a:solidFill>
                <a:latin typeface="微软雅黑"/>
              </a:rPr>
              <a:t>首页 → 题库广场 → 题库详情 → 数据/考试 → 刷题AI → 论坛 → 聊天 → 个人导入 → 后台管理</a:t>
            </a:r>
            <a:endParaRPr sz="1460" b="1" i="0">
              <a:solidFill>
                <a:srgbClr val="102A43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微软雅黑"/>
              </a:rPr>
              <a:t>正式访问地址：https://saksk.top</a:t>
            </a:r>
            <a:endParaRPr sz="126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60" b="0" i="0">
                <a:solidFill>
                  <a:srgbClr val="17324D"/>
                </a:solidFill>
                <a:latin typeface="微软雅黑"/>
              </a:rPr>
              <a:t>本地演示备用：http://127.0.0.1:8000</a:t>
            </a:r>
            <a:endParaRPr sz="1260" b="0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44768" y="3493008"/>
            <a:ext cx="5394960" cy="2651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19088" y="3730752"/>
            <a:ext cx="1143000" cy="292608"/>
          </a:xfrm>
          <a:prstGeom prst="roundRect">
            <a:avLst>
              <a:gd name="adj" fmla="val 35000"/>
            </a:avLst>
          </a:prstGeom>
          <a:solidFill>
            <a:srgbClr val="EEF9F6"/>
          </a:solidFill>
          <a:ln w="12700">
            <a:solidFill>
              <a:srgbClr val="CFE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785616"/>
            <a:ext cx="9235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34A58D"/>
                </a:solidFill>
                <a:latin typeface="微软雅黑"/>
              </a:rPr>
              <a:t>工程事实</a:t>
            </a:r>
            <a:endParaRPr sz="1250" b="1" i="0">
              <a:solidFill>
                <a:srgbClr val="34A58D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19088" y="4114800"/>
            <a:ext cx="4572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Web 是主体交互端，采用 Flask + Jinja SSR。</a:t>
            </a:r>
            <a:endParaRPr sz="130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小程序为微信原生工程，作为移动场景延展。</a:t>
            </a:r>
            <a:endParaRPr sz="130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应用工厂 + Blueprint 模块化，便于后续扩展。</a:t>
            </a:r>
            <a:endParaRPr sz="1300" b="0" i="0">
              <a:solidFill>
                <a:srgbClr val="17324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7324D"/>
                </a:solidFill>
                <a:latin typeface="微软雅黑"/>
              </a:rPr>
              <a:t>• 新接口遵循 status / code / data / message 信封结构。</a:t>
            </a:r>
            <a:endParaRPr sz="1300" b="0" i="0">
              <a:solidFill>
                <a:srgbClr val="17324D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94A3B8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94A3B8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7324D"/>
                </a:solidFill>
                <a:latin typeface="Aptos"/>
              </a:rPr>
              <a:t>18</a:t>
            </a:r>
            <a:endParaRPr sz="1100" b="1" i="0">
              <a:solidFill>
                <a:srgbClr val="1732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58368" y="566928"/>
            <a:ext cx="1828800" cy="310896"/>
          </a:xfrm>
          <a:prstGeom prst="roundRect">
            <a:avLst>
              <a:gd name="adj" fmla="val 35000"/>
            </a:avLst>
          </a:prstGeom>
          <a:solidFill>
            <a:srgbClr val="1A2845"/>
          </a:solidFill>
          <a:ln w="1270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621792"/>
            <a:ext cx="16093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DDE7FF"/>
                </a:solidFill>
                <a:latin typeface="微软雅黑"/>
              </a:rPr>
              <a:t>SUMMARY</a:t>
            </a:r>
            <a:endParaRPr sz="1150" b="1" i="0">
              <a:solidFill>
                <a:srgbClr val="DDE7FF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5778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</a:rPr>
              <a:t>Sak-AI答题助手</a:t>
            </a:r>
            <a:endParaRPr sz="3000" b="1" i="0">
              <a:solidFill>
                <a:srgbClr val="FFFFFF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DDE7FF"/>
                </a:solidFill>
                <a:latin typeface="微软雅黑"/>
              </a:rPr>
              <a:t>让题库沉淀、刷题训练、模拟考试、数据复盘、论坛互动与平台运营在一个系统中完整闭环。</a:t>
            </a:r>
            <a:endParaRPr sz="1700" b="0" i="0">
              <a:solidFill>
                <a:srgbClr val="DDE7FF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C7DC"/>
                </a:solidFill>
                <a:latin typeface="微软雅黑"/>
              </a:rPr>
              <a:t>谢谢各位老师指导</a:t>
            </a:r>
            <a:endParaRPr sz="1400" b="0" i="0">
              <a:solidFill>
                <a:srgbClr val="B8C7DC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3822191"/>
            <a:ext cx="5120640" cy="1572768"/>
          </a:xfrm>
          <a:prstGeom prst="roundRect">
            <a:avLst>
              <a:gd name="adj" fmla="val 18000"/>
            </a:avLst>
          </a:prstGeom>
          <a:solidFill>
            <a:srgbClr val="18263F"/>
          </a:solidFill>
          <a:ln w="15240">
            <a:solidFill>
              <a:srgbClr val="3141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133087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AFC2DD"/>
                </a:solidFill>
                <a:latin typeface="微软雅黑"/>
              </a:rPr>
              <a:t>正式访问地址</a:t>
            </a:r>
            <a:endParaRPr sz="1250" b="0" i="0">
              <a:solidFill>
                <a:srgbClr val="AFC2DD"/>
              </a:solidFill>
              <a:latin typeface="微软雅黑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https://saksk.top</a:t>
            </a:r>
            <a:endParaRPr sz="2000" b="1" i="0">
              <a:solidFill>
                <a:srgbClr val="FFFFFF"/>
              </a:solidFill>
              <a:latin typeface="Apto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8C7DC"/>
                </a:solidFill>
                <a:latin typeface="微软雅黑"/>
              </a:rPr>
              <a:t>现场网络受限时可切换本地 Docker 演示环境。</a:t>
            </a:r>
            <a:endParaRPr sz="1180" b="0" i="0">
              <a:solidFill>
                <a:srgbClr val="B8C7DC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37960" y="731520"/>
            <a:ext cx="508406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刷题 + AI解析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9" name="Picture 8" descr="刷题___AI解析-834x471.png"/>
          <p:cNvPicPr>
            <a:picLocks noChangeAspect="1"/>
          </p:cNvPicPr>
          <p:nvPr/>
        </p:nvPicPr>
        <p:blipFill>
          <a:blip r:embed="rId2"/>
          <a:srcRect l="4434" t="22" r="4671"/>
          <a:stretch>
            <a:fillRect/>
          </a:stretch>
        </p:blipFill>
        <p:spPr>
          <a:xfrm>
            <a:off x="6537960" y="988060"/>
            <a:ext cx="4288790" cy="26644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4023" y="3828542"/>
            <a:ext cx="3127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9E5F5"/>
                </a:solidFill>
                <a:latin typeface="微软雅黑"/>
              </a:rPr>
              <a:t>后台论坛管理</a:t>
            </a:r>
            <a:endParaRPr sz="1150" b="1" i="0">
              <a:solidFill>
                <a:srgbClr val="D9E5F5"/>
              </a:solidFill>
              <a:latin typeface="微软雅黑"/>
            </a:endParaRPr>
          </a:p>
        </p:txBody>
      </p:sp>
      <p:pic>
        <p:nvPicPr>
          <p:cNvPr id="11" name="Picture 10" descr="后台论坛管理-513x3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150" y="4084320"/>
            <a:ext cx="4292600" cy="2660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6473952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D6DFEC"/>
                </a:solidFill>
                <a:latin typeface="Aptos"/>
              </a:rPr>
              <a:t>Sak-AI答题助手｜答辩演示</a:t>
            </a:r>
            <a:endParaRPr sz="950" b="0" i="0">
              <a:solidFill>
                <a:srgbClr val="D6DFEC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384280" y="6400800"/>
            <a:ext cx="3474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8FAFC"/>
                </a:solidFill>
                <a:latin typeface="Aptos"/>
              </a:rPr>
              <a:t>19</a:t>
            </a:r>
            <a:endParaRPr sz="1100" b="1" i="0">
              <a:solidFill>
                <a:srgbClr val="F8FAFC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3963</Words>
  <Application>WPS 文字</Application>
  <PresentationFormat>On-screen Show (4:3)</PresentationFormat>
  <Paragraphs>540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Arial</vt:lpstr>
      <vt:lpstr>微软雅黑</vt:lpstr>
      <vt:lpstr>汉仪旗黑</vt:lpstr>
      <vt:lpstr>Aptos</vt:lpstr>
      <vt:lpstr>Helvetica Neue</vt:lpstr>
      <vt:lpstr>Calibri</vt:lpstr>
      <vt:lpstr>宋体</vt:lpstr>
      <vt:lpstr>汉仪书宋二KW</vt:lpstr>
      <vt:lpstr>微软雅黑</vt:lpstr>
      <vt:lpstr>Arial Unicode MS</vt:lpstr>
      <vt:lpstr>Aptos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Sak-AI答题助手-答辩演示PPT</dc:title>
  <dc:creator>Codex</dc:creator>
  <dc:description>generated using python-pptx</dc:description>
  <dc:subject>软件应用与开发 - Web 应用与开发</dc:subject>
  <cp:lastModifiedBy>saksk</cp:lastModifiedBy>
  <cp:revision>2</cp:revision>
  <dcterms:created xsi:type="dcterms:W3CDTF">2026-04-06T09:03:24Z</dcterms:created>
  <dcterms:modified xsi:type="dcterms:W3CDTF">2026-04-06T09:03:24Z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CBFC6C65F63E8F38DC76D36912C738E0_42</vt:lpwstr>
  </property>
</Properties>
</file>