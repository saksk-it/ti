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58368" y="530352"/>
            <a:ext cx="2103120" cy="310896"/>
          </a:xfrm>
          <a:prstGeom prst="roundRect">
            <a:avLst>
              <a:gd name="adj" fmla="val 35000"/>
            </a:avLst>
          </a:prstGeom>
          <a:solidFill>
            <a:srgbClr val="1E2D4C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585216"/>
            <a:ext cx="18836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DE7FF"/>
                </a:solidFill>
                <a:latin typeface="Microsoft YaHei"/>
              </a:rPr>
              <a:t>Web 应用为主体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Microsoft YaHei"/>
              </a:rPr>
              <a:t>Sak-AI答题助手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9E5F5"/>
                </a:solidFill>
                <a:latin typeface="Microsoft YaHei"/>
              </a:rPr>
              <a:t>面向备考学习与题库运营场景的单仓全栈 Web 应用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8C7DC"/>
                </a:solidFill>
                <a:latin typeface="Microsoft YaHei"/>
              </a:rPr>
              <a:t>题库广场｜个人题库｜刷题练习｜模拟考试｜数据中心｜论坛互动｜后台管理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88920"/>
            <a:ext cx="4206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ECF3FF"/>
                </a:solidFill>
                <a:latin typeface="Microsoft YaHei"/>
              </a:rPr>
              <a:t>不是单一刷题页面，而是围绕“题库沉淀—训练—复盘—运营”构建的完整业务系统。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12+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业务模块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Blueprint 按边界拆分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59152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2 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共享语义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Web + 微信原生小程序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59936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8536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Docker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8536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可复现部署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8536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web / worker / postgres / 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321808"/>
            <a:ext cx="2377440" cy="310896"/>
          </a:xfrm>
          <a:prstGeom prst="roundRect">
            <a:avLst>
              <a:gd name="adj" fmla="val 35000"/>
            </a:avLst>
          </a:prstGeom>
          <a:solidFill>
            <a:srgbClr val="172554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376672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D9E5F5"/>
                </a:solidFill>
                <a:latin typeface="Microsoft YaHei"/>
              </a:rPr>
              <a:t>赛道：软件应用与开发｜Web 应用与开发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54680" y="5321808"/>
            <a:ext cx="2331720" cy="310896"/>
          </a:xfrm>
          <a:prstGeom prst="roundRect">
            <a:avLst>
              <a:gd name="adj" fmla="val 35000"/>
            </a:avLst>
          </a:prstGeom>
          <a:solidFill>
            <a:srgbClr val="172554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4408" y="5376672"/>
            <a:ext cx="2112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D9E5F5"/>
                </a:solidFill>
                <a:latin typeface="Microsoft YaHei"/>
              </a:rPr>
              <a:t>正式访问：https://saksk.top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640080"/>
            <a:ext cx="5065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首页工作台</a:t>
            </a:r>
          </a:p>
        </p:txBody>
      </p:sp>
      <p:pic>
        <p:nvPicPr>
          <p:cNvPr id="24" name="Picture 23" descr="首页工作台-831x4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896112"/>
            <a:ext cx="5065776" cy="2871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31152" y="3639312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数据中心</a:t>
            </a:r>
          </a:p>
        </p:txBody>
      </p:sp>
      <p:pic>
        <p:nvPicPr>
          <p:cNvPr id="26" name="Picture 25" descr="数据中心-548x3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895344"/>
            <a:ext cx="3337560" cy="2176272"/>
          </a:xfrm>
          <a:prstGeom prst="rect">
            <a:avLst/>
          </a:prstGeom>
        </p:spPr>
      </p:pic>
      <p:pic>
        <p:nvPicPr>
          <p:cNvPr id="27" name="Picture 26" descr="phone_243x4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296" y="3493008"/>
            <a:ext cx="1481328" cy="2578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PAIN 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问题背景与需求洞察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从单点刷题工具走向完整学习闭环，是本作品的切入点。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039111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48255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020823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资源分散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3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公共题库、个人题库、课程练习常常分散存在，难以沉淀为持续可复用的学习资产。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01568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3566160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753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547872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训练断层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13632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用户能刷题，但难以把练习、考试、错题复盘和阶段统计串成一条连续的成长链路。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928616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5093208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10235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5074920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管理割裂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40680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教师或运营侧需要统一的内容管理、数据反馈与社区支撑，传统工具往往只覆盖学习端。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1874519"/>
            <a:ext cx="7132320" cy="44074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45152" y="2121408"/>
            <a:ext cx="1353312" cy="292608"/>
          </a:xfrm>
          <a:prstGeom prst="roundRect">
            <a:avLst>
              <a:gd name="adj" fmla="val 35000"/>
            </a:avLst>
          </a:prstGeom>
          <a:solidFill>
            <a:srgbClr val="EDF3FF"/>
          </a:solidFill>
          <a:ln w="12700">
            <a:solidFill>
              <a:srgbClr val="D5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176272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Microsoft YaHei"/>
              </a:rPr>
              <a:t>Sak-AI 的回答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2542032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Microsoft YaHei"/>
              </a:rPr>
              <a:t>以 Web 应用为核心入口，承载完整业务流程。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统一承接题库广场、个人题库、刷题、考试、数据中心、论坛与后台。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通过单仓全栈架构，让学习端与运营端共用一套后端与数据语义。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以微信原生小程序补足移动高频场景，而不是另起一套割裂系统。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以 AI 题目解析增强讲解与复盘体验，提升持续学习效率。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45152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2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主体交互端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SSR + 原生 JS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84264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12864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Mini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移动延展端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微信原生 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23376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1976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6B36A"/>
                </a:solidFill>
                <a:latin typeface="Aptos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1976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辅助增强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题目解析与学习说明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作品定位：一套系统，服务学习者与管理者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Web 为主、小程序为辅，共享同一后端语义与学习数据。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3337560" cy="4480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2688" y="2066543"/>
            <a:ext cx="100584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121407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学习端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27432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题库浏览与沉淀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公共题库 + 个人题库双线并行，支持加入、整理与长期复用。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练习与考试闭环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错题、收藏、用户答案、考试记录与学习进度持续沉淀。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可视化复盘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数据中心用趋势图、热力图与能力画像，让反馈可见。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87952" y="1828800"/>
            <a:ext cx="3886200" cy="4480560"/>
          </a:xfrm>
          <a:prstGeom prst="roundRect">
            <a:avLst>
              <a:gd name="adj" fmla="val 18000"/>
            </a:avLst>
          </a:prstGeom>
          <a:solidFill>
            <a:srgbClr val="F8FB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2066543"/>
            <a:ext cx="1188720" cy="292608"/>
          </a:xfrm>
          <a:prstGeom prst="roundRect">
            <a:avLst>
              <a:gd name="adj" fmla="val 35000"/>
            </a:avLst>
          </a:prstGeom>
          <a:solidFill>
            <a:srgbClr val="EAF2FF"/>
          </a:solidFill>
          <a:ln w="12700">
            <a:solidFill>
              <a:srgbClr val="D5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21407"/>
            <a:ext cx="9692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共享语义核心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53712" y="2633472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70662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261518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题库资源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2816352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公共题库 / 个人题库</a:t>
            </a:r>
          </a:p>
        </p:txBody>
      </p:sp>
      <p:sp>
        <p:nvSpPr>
          <p:cNvPr id="18" name="Chevron 17"/>
          <p:cNvSpPr/>
          <p:nvPr/>
        </p:nvSpPr>
        <p:spPr>
          <a:xfrm>
            <a:off x="4974336" y="3054096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53712" y="3438144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511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3419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刷题训练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7296" y="3621024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答案、收藏、错题、进度</a:t>
            </a:r>
          </a:p>
        </p:txBody>
      </p:sp>
      <p:sp>
        <p:nvSpPr>
          <p:cNvPr id="23" name="Chevron 22"/>
          <p:cNvSpPr/>
          <p:nvPr/>
        </p:nvSpPr>
        <p:spPr>
          <a:xfrm>
            <a:off x="4974336" y="3858768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53712" y="4242816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431596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422452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考试评估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7296" y="44256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模拟考试与结果沉淀</a:t>
            </a:r>
          </a:p>
        </p:txBody>
      </p:sp>
      <p:sp>
        <p:nvSpPr>
          <p:cNvPr id="28" name="Chevron 27"/>
          <p:cNvSpPr/>
          <p:nvPr/>
        </p:nvSpPr>
        <p:spPr>
          <a:xfrm>
            <a:off x="4974336" y="4663440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53712" y="5047488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12064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296" y="502920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数据复盘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7296" y="5230368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趋势、热力图、能力画像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47888" y="1828800"/>
            <a:ext cx="3282696" cy="4480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22208" y="2066543"/>
            <a:ext cx="1005840" cy="292608"/>
          </a:xfrm>
          <a:prstGeom prst="roundRect">
            <a:avLst>
              <a:gd name="adj" fmla="val 35000"/>
            </a:avLst>
          </a:prstGeom>
          <a:solidFill>
            <a:srgbClr val="EEF9F6"/>
          </a:solidFill>
          <a:ln w="12700">
            <a:solidFill>
              <a:srgbClr val="CFE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2121407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34A58D"/>
                </a:solidFill>
                <a:latin typeface="Microsoft YaHei"/>
              </a:rPr>
              <a:t>运营端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487168"/>
            <a:ext cx="260604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论坛互动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支持帖子浏览、交流讨论与学习社区沉淀。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后台管理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题目、科目、用户与系统数据可统一查看与管理。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移动延展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微信小程序基于同一后端语义，承接随时随地学习场景。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系统架构：单仓全栈、双端共享、容器化可复现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Microsoft YaHei"/>
              </a:rPr>
              <a:t>不是前后端分离多仓拼装，而是一套围绕业务模块组织的工程系统。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56832" y="1536192"/>
            <a:ext cx="4937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系统架构图</a:t>
            </a:r>
          </a:p>
        </p:txBody>
      </p:sp>
      <p:pic>
        <p:nvPicPr>
          <p:cNvPr id="8" name="Picture 7" descr="系统架构图-810x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1792224"/>
            <a:ext cx="4937760" cy="2944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56832" y="4572000"/>
            <a:ext cx="4937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核心用户流程</a:t>
            </a:r>
          </a:p>
        </p:txBody>
      </p:sp>
      <p:pic>
        <p:nvPicPr>
          <p:cNvPr id="10" name="Picture 9" descr="核心用户流程-810x2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4828032"/>
            <a:ext cx="4937760" cy="12984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1883664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2048256"/>
            <a:ext cx="310896" cy="310896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0574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2029968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应用层：Web + 微信原生小程序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95728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Web 采用 Flask + Jinja 服务端渲染，小程序采用微信原生 TS，两个端共享同一后端语义。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907792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3072384"/>
            <a:ext cx="310896" cy="310896"/>
          </a:xfrm>
          <a:prstGeom prst="ellipse">
            <a:avLst/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81528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3054096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服务层：Flask 应用工厂 + Blueprint 模块化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19856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已注册 auth、main、quiz、exam、user、chat、notifications、popups、coding、user_bank、forum、admin 等 12 个模块。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931920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05656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4078224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数据层：PostgreSQL + Redis + RQ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443984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PostgreSQL 存储题库与学习数据，Redis 承担缓存/限流/队列，RQ Worker 处理后台任务。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56048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2960" y="5120640"/>
            <a:ext cx="310896" cy="31089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978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5102352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交付层：Docker Compose 开发编排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468112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compose.dev.yml 统一拉起 web、worker、postgres、redis、backup，便于演示、复现与现场切换。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核心功能闭环：从题库沉淀到数据复盘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围绕学习者与运营者共同构建完整业务流程。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48840"/>
            <a:ext cx="1755648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题库广场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浏览系统题库与公开题库，快速进入学习入口。</a:t>
            </a:r>
          </a:p>
        </p:txBody>
      </p:sp>
      <p:sp>
        <p:nvSpPr>
          <p:cNvPr id="12" name="Chevron 11"/>
          <p:cNvSpPr/>
          <p:nvPr/>
        </p:nvSpPr>
        <p:spPr>
          <a:xfrm>
            <a:off x="2432304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0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2148840"/>
            <a:ext cx="1755648" cy="73152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C0BE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个人题库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4912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沉淀自建/已加入题库，形成个人长期资源库。</a:t>
            </a:r>
          </a:p>
        </p:txBody>
      </p:sp>
      <p:sp>
        <p:nvSpPr>
          <p:cNvPr id="18" name="Chevron 17"/>
          <p:cNvSpPr/>
          <p:nvPr/>
        </p:nvSpPr>
        <p:spPr>
          <a:xfrm>
            <a:off x="4334256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62272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2272" y="2148840"/>
            <a:ext cx="1755648" cy="73152"/>
          </a:xfrm>
          <a:prstGeom prst="rect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6864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6B36A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刷题训练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6864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支持题目练习、收藏、错题与答案记录。</a:t>
            </a:r>
          </a:p>
        </p:txBody>
      </p:sp>
      <p:sp>
        <p:nvSpPr>
          <p:cNvPr id="24" name="Chevron 23"/>
          <p:cNvSpPr/>
          <p:nvPr/>
        </p:nvSpPr>
        <p:spPr>
          <a:xfrm>
            <a:off x="6236208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64224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64224" y="2148840"/>
            <a:ext cx="1755648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模拟考试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按公共题库或个人题库发起考试训练。</a:t>
            </a:r>
          </a:p>
        </p:txBody>
      </p:sp>
      <p:sp>
        <p:nvSpPr>
          <p:cNvPr id="30" name="Chevron 29"/>
          <p:cNvSpPr/>
          <p:nvPr/>
        </p:nvSpPr>
        <p:spPr>
          <a:xfrm>
            <a:off x="8138160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66176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66176" y="2148840"/>
            <a:ext cx="1755648" cy="73152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C0BE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数据中心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趋势图、热力图、能力画像帮助用户复盘。</a:t>
            </a:r>
          </a:p>
        </p:txBody>
      </p:sp>
      <p:sp>
        <p:nvSpPr>
          <p:cNvPr id="36" name="Chevron 35"/>
          <p:cNvSpPr/>
          <p:nvPr/>
        </p:nvSpPr>
        <p:spPr>
          <a:xfrm>
            <a:off x="10040112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68128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68128" y="2148840"/>
            <a:ext cx="1755648" cy="73152"/>
          </a:xfrm>
          <a:prstGeom prst="rect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20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6B36A"/>
                </a:solidFill>
                <a:latin typeface="Apto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论坛 / 后台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支持交流互动与系统运营管理，形成支撑面。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8992" y="4800600"/>
            <a:ext cx="1005840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53312" y="5029200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102A43"/>
                </a:solidFill>
                <a:latin typeface="Microsoft YaHei"/>
              </a:rPr>
              <a:t>闭环价值：让“资源组织 → 高频训练 → 阶段评估 → 可视化复盘 → 社区互动 / 运营支撑”在同一系统中连续发生。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A1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真实界面展示：首页工作台与题库广场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每页控制为 1~2 张大图，让评委能直接看清真实页面细节。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40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首页工作台</a:t>
            </a:r>
          </a:p>
        </p:txBody>
      </p:sp>
      <p:pic>
        <p:nvPicPr>
          <p:cNvPr id="8" name="Picture 7" descr="首页工作台-892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28800"/>
            <a:ext cx="5440680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1572768"/>
            <a:ext cx="5175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题库广场</a:t>
            </a:r>
          </a:p>
        </p:txBody>
      </p:sp>
      <p:pic>
        <p:nvPicPr>
          <p:cNvPr id="10" name="Picture 9" descr="题库广场-849x7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28800"/>
            <a:ext cx="5175504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A2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真实界面展示：题库详情与我的题库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分别对应公共题库详情入口与个人题库资源沉淀入口。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40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题库详情（名片页）</a:t>
            </a:r>
          </a:p>
        </p:txBody>
      </p:sp>
      <p:pic>
        <p:nvPicPr>
          <p:cNvPr id="8" name="Picture 7" descr="题库详情_名片页-892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28800"/>
            <a:ext cx="5440680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1572768"/>
            <a:ext cx="5175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我的题库</a:t>
            </a:r>
          </a:p>
        </p:txBody>
      </p:sp>
      <p:pic>
        <p:nvPicPr>
          <p:cNvPr id="10" name="Picture 9" descr="我的题库-849x7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28800"/>
            <a:ext cx="5175504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真实界面展示：数据中心与考试中心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用更大的页面面积呈现复盘分析与考试入口。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504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数据中心</a:t>
            </a:r>
          </a:p>
        </p:txBody>
      </p:sp>
      <p:pic>
        <p:nvPicPr>
          <p:cNvPr id="8" name="Picture 7" descr="数据中心-903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28800"/>
            <a:ext cx="5504688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7648" y="1572768"/>
            <a:ext cx="5202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考试中心</a:t>
            </a:r>
          </a:p>
        </p:txBody>
      </p:sp>
      <p:pic>
        <p:nvPicPr>
          <p:cNvPr id="10" name="Picture 9" descr="考试中心-854x7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1828800"/>
            <a:ext cx="5202936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QUIZ +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刷题模块：答题工作台与 AI 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重点展示评委最关心的刷题界面、题目卡片与即时 AI 解析能力。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6748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刷题工作台 + AI解析</a:t>
            </a:r>
          </a:p>
        </p:txBody>
      </p:sp>
      <p:pic>
        <p:nvPicPr>
          <p:cNvPr id="8" name="Picture 7" descr="刷题工作台___AI解析-1107x7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10512"/>
            <a:ext cx="6748272" cy="44074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44383" y="1883664"/>
            <a:ext cx="3904487" cy="43159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36992" y="2139696"/>
            <a:ext cx="1225296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945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答题体验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578608"/>
            <a:ext cx="3127248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17324D"/>
                </a:solidFill>
                <a:latin typeface="Microsoft YaHei"/>
              </a:rPr>
              <a:t>• 支持题目列表、答题卡片、前后切题与收藏。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17324D"/>
                </a:solidFill>
                <a:latin typeface="Microsoft YaHei"/>
              </a:rPr>
              <a:t>• AI 解析按题触发，直接嵌入答题工作流。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17324D"/>
                </a:solidFill>
                <a:latin typeface="Microsoft YaHei"/>
              </a:rPr>
              <a:t>• 页面采用独立答题布局，便于沉浸式练习。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17324D"/>
                </a:solidFill>
                <a:latin typeface="Microsoft YaHei"/>
              </a:rPr>
              <a:t>• 对评委而言，这一页能直接证明系统不是静态展示页，而是真实可交互的练习系统。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36992" y="5321808"/>
            <a:ext cx="1481328" cy="8046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5458968"/>
            <a:ext cx="10241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5888736"/>
            <a:ext cx="10241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即时解析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6190488"/>
            <a:ext cx="1024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按题触发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5321808"/>
            <a:ext cx="1481328" cy="8046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5458968"/>
            <a:ext cx="10241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5888736"/>
            <a:ext cx="10241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连续练习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6190488"/>
            <a:ext cx="1024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列表 / 卡片 / 解析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AI GRADING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主观题判分：有答即对、AI 判分、自评模式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通过更大截图展示设置面板，避免模式项过小看不清。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5650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主观题判分设置</a:t>
            </a:r>
          </a:p>
        </p:txBody>
      </p:sp>
      <p:pic>
        <p:nvPicPr>
          <p:cNvPr id="8" name="Picture 7" descr="主观题判分设置-927x7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10512"/>
            <a:ext cx="5650992" cy="44074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47104" y="1883664"/>
            <a:ext cx="5010912" cy="43159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03136" y="2176272"/>
            <a:ext cx="4480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67728" y="2340864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350008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0064" y="2322576"/>
            <a:ext cx="3730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有答即对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2688336"/>
            <a:ext cx="4151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适合快速刷题场景，主观题填写后即可继续推进流程。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136" y="3255264"/>
            <a:ext cx="4480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67728" y="3419856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7728" y="34290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3401568"/>
            <a:ext cx="3730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AI 判分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3767328"/>
            <a:ext cx="4151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调用 AI 对主观题作答进行智能评判，并与后台 AI 配置形成呼应。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03136" y="4334256"/>
            <a:ext cx="4480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67728" y="4498848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450799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4480560"/>
            <a:ext cx="3730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自评模式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4846320"/>
            <a:ext cx="4151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展示参考答案后由学习者自评，更适合开放题与复盘型训练。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FORUM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论坛模块：社区首页到帖子详情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帖子列表与帖子阅读都使用更大的图片面积，便于看清结构与信息层次。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358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论坛首页</a:t>
            </a:r>
          </a:p>
        </p:txBody>
      </p:sp>
      <p:pic>
        <p:nvPicPr>
          <p:cNvPr id="8" name="Picture 7" descr="论坛首页-879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28800"/>
            <a:ext cx="5358384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72784" y="1572768"/>
            <a:ext cx="5285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论坛帖子详情</a:t>
            </a:r>
          </a:p>
        </p:txBody>
      </p:sp>
      <p:pic>
        <p:nvPicPr>
          <p:cNvPr id="10" name="Picture 9" descr="论坛帖子详情-867x7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84" y="1828800"/>
            <a:ext cx="5285232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CHAT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聊天模块：会话、搜索与互动内容承接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Microsoft YaHei"/>
              </a:rPr>
              <a:t>支持从资料页或系统入口进入聊天，会话中可承接题目、图片、语音与帖子转发。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聊天界面</a:t>
            </a:r>
          </a:p>
        </p:txBody>
      </p:sp>
      <p:pic>
        <p:nvPicPr>
          <p:cNvPr id="8" name="Picture 7" descr="聊天界面-1110x7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10512"/>
            <a:ext cx="6766560" cy="44074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62672" y="1901952"/>
            <a:ext cx="3840480" cy="4224528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24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79" y="2139696"/>
            <a:ext cx="1207008" cy="292608"/>
          </a:xfrm>
          <a:prstGeom prst="roundRect">
            <a:avLst>
              <a:gd name="adj" fmla="val 35000"/>
            </a:avLst>
          </a:prstGeom>
          <a:solidFill>
            <a:srgbClr val="243656"/>
          </a:solidFill>
          <a:ln w="12700">
            <a:solidFill>
              <a:srgbClr val="3952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7" y="2194560"/>
            <a:ext cx="9875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9E5F5"/>
                </a:solidFill>
                <a:latin typeface="Microsoft YaHei"/>
              </a:rPr>
              <a:t>交互能力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578608"/>
            <a:ext cx="316382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AF1FF"/>
                </a:solidFill>
                <a:latin typeface="Microsoft YaHei"/>
              </a:rPr>
              <a:t>搜索用户后可直接发起讨论。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Microsoft YaHei"/>
              </a:rPr>
              <a:t>• 会话列表区分消息与互动。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Microsoft YaHei"/>
              </a:rPr>
              <a:t>• 消息类型覆盖图片、语音、题目与帖子转发。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Microsoft YaHei"/>
              </a:rPr>
              <a:t>• 与论坛、个人资料等模块形成联动。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5285232"/>
            <a:ext cx="1572768" cy="822960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5422392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5852160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消息流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6153912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会话 / 搜索 / 发送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56064" y="5285232"/>
            <a:ext cx="1572768" cy="822960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84664" y="5422392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4664" y="5852160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内容互通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4664" y="6153912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题目 / 帖子 / 图片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IMPORT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个人题目导入：题目管理 + Word 工作区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个人题库不只是存储入口，还提供完整的题目导入与维护流程。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68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个人题目管理</a:t>
            </a:r>
          </a:p>
        </p:txBody>
      </p:sp>
      <p:pic>
        <p:nvPicPr>
          <p:cNvPr id="8" name="Picture 7" descr="个人题目管理-897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28800"/>
            <a:ext cx="5468112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1572768"/>
            <a:ext cx="5212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Word 导入工作区</a:t>
            </a:r>
          </a:p>
        </p:txBody>
      </p:sp>
      <p:pic>
        <p:nvPicPr>
          <p:cNvPr id="10" name="Picture 9" descr="Word_导入工作区-855x7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1828800"/>
            <a:ext cx="5212080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ADMIN 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后台管理：仪表盘与题目管理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后台页面同样改为大图展示，避免关键信息读不清。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40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后台仪表盘</a:t>
            </a:r>
          </a:p>
        </p:txBody>
      </p:sp>
      <p:pic>
        <p:nvPicPr>
          <p:cNvPr id="8" name="Picture 7" descr="后台仪表盘-892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28800"/>
            <a:ext cx="5440680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1572768"/>
            <a:ext cx="5175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后台题目管理</a:t>
            </a:r>
          </a:p>
        </p:txBody>
      </p:sp>
      <p:pic>
        <p:nvPicPr>
          <p:cNvPr id="10" name="Picture 9" descr="后台题目管理-849x7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28800"/>
            <a:ext cx="5175504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ADMIN 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后台管理：论坛治理与 AI 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进一步展示内容治理与系统配置层能力。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40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后台论坛管理</a:t>
            </a:r>
          </a:p>
        </p:txBody>
      </p:sp>
      <p:pic>
        <p:nvPicPr>
          <p:cNvPr id="8" name="Picture 7" descr="后台论坛管理-892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28800"/>
            <a:ext cx="5440680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1572768"/>
            <a:ext cx="5175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Microsoft YaHei"/>
              </a:rPr>
              <a:t>后台 AI 配置</a:t>
            </a:r>
          </a:p>
        </p:txBody>
      </p:sp>
      <p:pic>
        <p:nvPicPr>
          <p:cNvPr id="10" name="Picture 9" descr="后台_AI_配置-849x7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28800"/>
            <a:ext cx="5175504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CROSS-END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双端协同：Web 主体 + 小程序延展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Microsoft YaHei"/>
              </a:rPr>
              <a:t>展示主体是 Web；移动端延展同样复用同一套后端与数据语义。</a:t>
            </a:r>
          </a:p>
        </p:txBody>
      </p:sp>
      <p:pic>
        <p:nvPicPr>
          <p:cNvPr id="7" name="Picture 6" descr="phone_339x7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55648"/>
            <a:ext cx="2066543" cy="4407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10128" y="1755648"/>
            <a:ext cx="40782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Web 首页（响应式壳层）</a:t>
            </a:r>
          </a:p>
        </p:txBody>
      </p:sp>
      <p:pic>
        <p:nvPicPr>
          <p:cNvPr id="9" name="Picture 8" descr="Web_首页_响应式壳层-669x4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128" y="2011680"/>
            <a:ext cx="4078224" cy="2743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62672" y="1883664"/>
            <a:ext cx="3886200" cy="4297680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24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2139696"/>
            <a:ext cx="1325880" cy="292608"/>
          </a:xfrm>
          <a:prstGeom prst="roundRect">
            <a:avLst>
              <a:gd name="adj" fmla="val 35000"/>
            </a:avLst>
          </a:prstGeom>
          <a:solidFill>
            <a:srgbClr val="243656"/>
          </a:solidFill>
          <a:ln w="12700">
            <a:solidFill>
              <a:srgbClr val="3952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7" y="2194560"/>
            <a:ext cx="1106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9E5F5"/>
                </a:solidFill>
                <a:latin typeface="Microsoft YaHei"/>
              </a:rPr>
              <a:t>共享关键语义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578608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收藏 / 错题 / 用户答案 / 用户进度 / 模拟考试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Web 端承担主要交互与展示，是参赛主体。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小程序按高频移动学习场景延展，减少语义割裂。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统一经过后端与接口封装，降低维护与演示成本。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30368"/>
            <a:ext cx="1591056" cy="84124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5367528"/>
            <a:ext cx="1133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SSR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5797296"/>
            <a:ext cx="11338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Web 形态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609904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Flask + Jinja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5230368"/>
            <a:ext cx="1591056" cy="84124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5367528"/>
            <a:ext cx="1133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JWT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5797296"/>
            <a:ext cx="11338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API / 小程序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09904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Bearer Token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关键亮点：工程化表达与应用价值并重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在题库系统常见能力之外，重点强化共享语义、可复现交付与学习辅助增强。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194560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共享数据语义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公共题库、个人题库、题目、收藏、错题、答案、进度、考试等能力在 Web 与小程序两端保持同一套后端语义，降低维护复杂度，也让学习记录真正可连续。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2194560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Docker 化可复现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开发环境默认通过 compose.dev.yml 统一拉起 web、worker、postgres、redis、backup。无论课堂演示、现场答辩还是后续交付，都能更稳定地复现运行环境。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160" y="2194560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AI 学习辅助增强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围绕刷题流程补充 AI 解析、主观题判分与后台 AI 配置能力，让系统更贴近教学、练习与复盘的真实场景。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工程验证与答辩可演示性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答辩现场不仅要讲清功能，还要展示项目具备稳定运行与工程交付能力。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8000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Web 暴露端口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compose.dev.yml：flask run --reload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2384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/api/ping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0984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健康检查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984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支持基础与 deep=1 检查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6B36A"/>
                </a:solidFill>
                <a:latin typeface="Aptos"/>
              </a:rPr>
              <a:t>PostgreSQL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开发默认数据库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Redis + RQ 协同运行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6" y="1920240"/>
            <a:ext cx="274320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9016" y="205740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5 项服务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2487168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容器编排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27889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web / worker / postgres / redis / backup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493008"/>
            <a:ext cx="5257800" cy="2651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" y="3730752"/>
            <a:ext cx="114300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85616"/>
            <a:ext cx="923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推荐演示顺序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151376"/>
            <a:ext cx="4526280" cy="1664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60" b="1" i="0">
                <a:solidFill>
                  <a:srgbClr val="102A43"/>
                </a:solidFill>
                <a:latin typeface="Microsoft YaHei"/>
              </a:rPr>
              <a:t>首页 → 题库广场 → 题库详情 → 数据/考试 → 刷题AI → 论坛 → 聊天 → 个人导入 → 后台管理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17324D"/>
                </a:solidFill>
                <a:latin typeface="Microsoft YaHei"/>
              </a:rPr>
              <a:t>正式访问地址：https://saksk.top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17324D"/>
                </a:solidFill>
                <a:latin typeface="Microsoft YaHei"/>
              </a:rPr>
              <a:t>本地演示备用：http://127.0.0.1:8000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493008"/>
            <a:ext cx="5394960" cy="2651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19088" y="3730752"/>
            <a:ext cx="1143000" cy="292608"/>
          </a:xfrm>
          <a:prstGeom prst="roundRect">
            <a:avLst>
              <a:gd name="adj" fmla="val 35000"/>
            </a:avLst>
          </a:prstGeom>
          <a:solidFill>
            <a:srgbClr val="EEF9F6"/>
          </a:solidFill>
          <a:ln w="12700">
            <a:solidFill>
              <a:srgbClr val="CFE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3785616"/>
            <a:ext cx="923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34A58D"/>
                </a:solidFill>
                <a:latin typeface="Microsoft YaHei"/>
              </a:rPr>
              <a:t>工程事实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11480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Web 是主体交互端，采用 Flask + Jinja SSR。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小程序为微信原生工程，作为移动场景延展。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应用工厂 + Blueprint 模块化，便于后续扩展。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新接口遵循 status / code / data / message 信封结构。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58368" y="566928"/>
            <a:ext cx="1828800" cy="310896"/>
          </a:xfrm>
          <a:prstGeom prst="roundRect">
            <a:avLst>
              <a:gd name="adj" fmla="val 35000"/>
            </a:avLst>
          </a:prstGeom>
          <a:solidFill>
            <a:srgbClr val="1A2845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62179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DDE7FF"/>
                </a:solidFill>
                <a:latin typeface="Microsoft YaHe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Sak-AI答题助手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DDE7FF"/>
                </a:solidFill>
                <a:latin typeface="Microsoft YaHei"/>
              </a:rPr>
              <a:t>让题库沉淀、刷题训练、模拟考试、数据复盘、论坛互动与平台运营在一个系统中完整闭环。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C7DC"/>
                </a:solidFill>
                <a:latin typeface="Microsoft YaHei"/>
              </a:rPr>
              <a:t>谢谢各位老师指导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822191"/>
            <a:ext cx="5120640" cy="1572768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133087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AFC2DD"/>
                </a:solidFill>
                <a:latin typeface="Microsoft YaHei"/>
              </a:rPr>
              <a:t>正式访问地址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ptos"/>
              </a:rPr>
              <a:t>https://saksk.top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8C7DC"/>
                </a:solidFill>
                <a:latin typeface="Microsoft YaHei"/>
              </a:rPr>
              <a:t>现场网络受限时可切换本地 Docker 演示环境。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731520"/>
            <a:ext cx="50840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刷题 + AI解析</a:t>
            </a:r>
          </a:p>
        </p:txBody>
      </p:sp>
      <p:pic>
        <p:nvPicPr>
          <p:cNvPr id="9" name="Picture 8" descr="刷题___AI解析-834x4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987552"/>
            <a:ext cx="5084064" cy="28712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76288" y="3730752"/>
            <a:ext cx="3127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Microsoft YaHei"/>
              </a:rPr>
              <a:t>后台论坛管理</a:t>
            </a:r>
          </a:p>
        </p:txBody>
      </p:sp>
      <p:pic>
        <p:nvPicPr>
          <p:cNvPr id="11" name="Picture 10" descr="后台论坛管理-513x3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3986784"/>
            <a:ext cx="3127248" cy="1938528"/>
          </a:xfrm>
          <a:prstGeom prst="rect">
            <a:avLst/>
          </a:prstGeom>
        </p:spPr>
      </p:pic>
      <p:pic>
        <p:nvPicPr>
          <p:cNvPr id="12" name="Picture 11" descr="phone_267x3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76" y="3675887"/>
            <a:ext cx="1627632" cy="2249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Sak-AI答题助手-答辩演示PPT</dc:title>
  <dc:subject>软件应用与开发 - Web 应用与开发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