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58368" y="530352"/>
            <a:ext cx="2103120" cy="310896"/>
          </a:xfrm>
          <a:prstGeom prst="roundRect">
            <a:avLst>
              <a:gd name="adj" fmla="val 35000"/>
            </a:avLst>
          </a:prstGeom>
          <a:solidFill>
            <a:srgbClr val="1E2D4C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585216"/>
            <a:ext cx="18836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DE7FF"/>
                </a:solidFill>
                <a:latin typeface="Microsoft YaHei"/>
              </a:rPr>
              <a:t>Web 应用为主体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Microsoft YaHei"/>
              </a:rPr>
              <a:t>Sak-AI答题助手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9E5F5"/>
                </a:solidFill>
                <a:latin typeface="Microsoft YaHei"/>
              </a:rPr>
              <a:t>面向备考学习与题库运营场景的单仓全栈 Web 应用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8C7DC"/>
                </a:solidFill>
                <a:latin typeface="Microsoft YaHei"/>
              </a:rPr>
              <a:t>题库广场｜个人题库｜刷题练习｜模拟考试｜数据中心｜论坛互动｜后台管理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88920"/>
            <a:ext cx="4206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ECF3FF"/>
                </a:solidFill>
                <a:latin typeface="Microsoft YaHei"/>
              </a:rPr>
              <a:t>不是单一刷题页面，而是围绕“题库沉淀—训练—复盘—运营”构建的完整业务系统。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959351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12+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4389119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业务模块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4690871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Blueprint 按边界拆分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59152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3959351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2 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4389119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共享语义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4690871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Web + 微信原生小程序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59936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88536" y="3959351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Docker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8536" y="4389119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可复现部署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8536" y="4690871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web / worker / postgres / 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321808"/>
            <a:ext cx="2377440" cy="310896"/>
          </a:xfrm>
          <a:prstGeom prst="roundRect">
            <a:avLst>
              <a:gd name="adj" fmla="val 35000"/>
            </a:avLst>
          </a:prstGeom>
          <a:solidFill>
            <a:srgbClr val="172554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376672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D9E5F5"/>
                </a:solidFill>
                <a:latin typeface="Microsoft YaHei"/>
              </a:rPr>
              <a:t>赛道：软件应用与开发｜Web 应用与开发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54680" y="5321808"/>
            <a:ext cx="2331720" cy="310896"/>
          </a:xfrm>
          <a:prstGeom prst="roundRect">
            <a:avLst>
              <a:gd name="adj" fmla="val 35000"/>
            </a:avLst>
          </a:prstGeom>
          <a:solidFill>
            <a:srgbClr val="172554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4408" y="5376672"/>
            <a:ext cx="2112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D9E5F5"/>
                </a:solidFill>
                <a:latin typeface="Microsoft YaHei"/>
              </a:rPr>
              <a:t>正式访问：https://saksk.top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0528" y="896112"/>
            <a:ext cx="5065776" cy="2871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83680" y="969264"/>
            <a:ext cx="4919472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65976" y="1028700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1028700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85432" y="1028700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987552"/>
            <a:ext cx="43159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首页工作台</a:t>
            </a:r>
          </a:p>
        </p:txBody>
      </p:sp>
      <p:pic>
        <p:nvPicPr>
          <p:cNvPr id="29" name="Picture 28" descr="首页工作台-804x3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1261872"/>
            <a:ext cx="4901184" cy="2414016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931152" y="3895344"/>
            <a:ext cx="3337560" cy="217627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04304" y="3968496"/>
            <a:ext cx="319125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86600" y="4027932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96328" y="4027932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306056" y="4027932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61504" y="3986784"/>
            <a:ext cx="25877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数据中心</a:t>
            </a:r>
          </a:p>
        </p:txBody>
      </p:sp>
      <p:pic>
        <p:nvPicPr>
          <p:cNvPr id="36" name="Picture 35" descr="数据中心-520x2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4261104"/>
            <a:ext cx="3172968" cy="1719072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10369296" y="3493008"/>
            <a:ext cx="1481328" cy="2578608"/>
          </a:xfrm>
          <a:prstGeom prst="roundRect">
            <a:avLst>
              <a:gd name="adj" fmla="val 22000"/>
            </a:avLst>
          </a:prstGeom>
          <a:solidFill>
            <a:srgbClr val="0B1120"/>
          </a:solidFill>
          <a:ln w="19050">
            <a:solidFill>
              <a:srgbClr val="28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79024" y="3639312"/>
            <a:ext cx="1261872" cy="2286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899648" y="3566160"/>
            <a:ext cx="420624" cy="73152"/>
          </a:xfrm>
          <a:prstGeom prst="roundRect">
            <a:avLst>
              <a:gd name="adj" fmla="val 40000"/>
            </a:avLst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hone-207x3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024" y="3639312"/>
            <a:ext cx="1261872" cy="228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PAIN 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问题背景与需求洞察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从单点刷题工具走向完整学习闭环，是本作品的切入点。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039111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48255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020823"/>
            <a:ext cx="2724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资源分散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3"/>
            <a:ext cx="3145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公共题库、个人题库、课程练习常常分散存在，难以沉淀为持续可复用的学习资产。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01568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3566160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753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547872"/>
            <a:ext cx="2724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训练断层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13632"/>
            <a:ext cx="3145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用户能刷题，但难以把练习、考试、错题复盘和阶段统计串成一条连续的成长链路。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928616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5093208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10235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5074920"/>
            <a:ext cx="2724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管理割裂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40680"/>
            <a:ext cx="3145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教师或运营侧需要统一的内容管理、数据反馈与社区支撑，传统工具往往只覆盖学习端。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1874519"/>
            <a:ext cx="7132320" cy="44074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45152" y="2121408"/>
            <a:ext cx="1353312" cy="292608"/>
          </a:xfrm>
          <a:prstGeom prst="roundRect">
            <a:avLst>
              <a:gd name="adj" fmla="val 35000"/>
            </a:avLst>
          </a:prstGeom>
          <a:solidFill>
            <a:srgbClr val="EDF3FF"/>
          </a:solidFill>
          <a:ln w="12700">
            <a:solidFill>
              <a:srgbClr val="D5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176272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Microsoft YaHei"/>
              </a:rPr>
              <a:t>Sak-AI 的回答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2542032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Microsoft YaHei"/>
              </a:rPr>
              <a:t>以 Web 应用为核心入口，承载完整业务流程。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统一承接题库广场、个人题库、刷题、考试、数据中心、论坛与后台。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通过单仓全栈架构，让学习端与运营端共用一套后端与数据语义。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以微信原生小程序补足移动高频场景，而不是另起一套割裂系统。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以 AI 题目解析增强讲解与复盘体验，提升持续学习效率。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45152" y="5230368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3752" y="5367528"/>
            <a:ext cx="141731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2" y="579729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主体交互端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6099048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SSR + 原生 JS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84264" y="5230368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12864" y="5367528"/>
            <a:ext cx="141731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Mini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579729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移动延展端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6099048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微信原生 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23376" y="5230368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1976" y="5367528"/>
            <a:ext cx="141731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6B36A"/>
                </a:solidFill>
                <a:latin typeface="Aptos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1976" y="579729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辅助增强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6099048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题目解析与学习说明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作品定位：一套系统，服务学习者与管理者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Web 为主、小程序为辅，共享同一后端语义与学习数据。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3337560" cy="4480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2688" y="2066543"/>
            <a:ext cx="1005840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121407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学习端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27432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题库浏览与沉淀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Microsoft YaHei"/>
              </a:rPr>
              <a:t>公共题库 + 个人题库双线并行，支持加入、整理与长期复用。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练习与考试闭环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Microsoft YaHei"/>
              </a:rPr>
              <a:t>错题、收藏、用户答案、考试记录与学习进度持续沉淀。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可视化复盘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Microsoft YaHei"/>
              </a:rPr>
              <a:t>数据中心用趋势图、热力图与能力画像，让反馈可见。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87952" y="1828800"/>
            <a:ext cx="3886200" cy="4480560"/>
          </a:xfrm>
          <a:prstGeom prst="roundRect">
            <a:avLst>
              <a:gd name="adj" fmla="val 18000"/>
            </a:avLst>
          </a:prstGeom>
          <a:solidFill>
            <a:srgbClr val="F8FB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2066543"/>
            <a:ext cx="1188720" cy="292608"/>
          </a:xfrm>
          <a:prstGeom prst="roundRect">
            <a:avLst>
              <a:gd name="adj" fmla="val 35000"/>
            </a:avLst>
          </a:prstGeom>
          <a:solidFill>
            <a:srgbClr val="EAF2FF"/>
          </a:solidFill>
          <a:ln w="12700">
            <a:solidFill>
              <a:srgbClr val="D5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21407"/>
            <a:ext cx="9692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共享语义核心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53712" y="2633472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70662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261518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题库资源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7296" y="2816352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公共题库 / 个人题库</a:t>
            </a:r>
          </a:p>
        </p:txBody>
      </p:sp>
      <p:sp>
        <p:nvSpPr>
          <p:cNvPr id="18" name="Chevron 17"/>
          <p:cNvSpPr/>
          <p:nvPr/>
        </p:nvSpPr>
        <p:spPr>
          <a:xfrm>
            <a:off x="4974336" y="3054096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53712" y="3438144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511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3419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刷题训练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7296" y="3621024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答案、收藏、错题、进度</a:t>
            </a:r>
          </a:p>
        </p:txBody>
      </p:sp>
      <p:sp>
        <p:nvSpPr>
          <p:cNvPr id="23" name="Chevron 22"/>
          <p:cNvSpPr/>
          <p:nvPr/>
        </p:nvSpPr>
        <p:spPr>
          <a:xfrm>
            <a:off x="4974336" y="3858768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53712" y="4242816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431596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422452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考试评估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7296" y="44256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模拟考试与结果沉淀</a:t>
            </a:r>
          </a:p>
        </p:txBody>
      </p:sp>
      <p:sp>
        <p:nvSpPr>
          <p:cNvPr id="28" name="Chevron 27"/>
          <p:cNvSpPr/>
          <p:nvPr/>
        </p:nvSpPr>
        <p:spPr>
          <a:xfrm>
            <a:off x="4974336" y="4663440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53712" y="5047488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12064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7296" y="502920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数据复盘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7296" y="5230368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趋势、热力图、能力画像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47888" y="1828800"/>
            <a:ext cx="3282696" cy="4480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22208" y="2066543"/>
            <a:ext cx="1005840" cy="292608"/>
          </a:xfrm>
          <a:prstGeom prst="roundRect">
            <a:avLst>
              <a:gd name="adj" fmla="val 35000"/>
            </a:avLst>
          </a:prstGeom>
          <a:solidFill>
            <a:srgbClr val="EEF9F6"/>
          </a:solidFill>
          <a:ln w="12700">
            <a:solidFill>
              <a:srgbClr val="CFE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1936" y="2121407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34A58D"/>
                </a:solidFill>
                <a:latin typeface="Microsoft YaHei"/>
              </a:rPr>
              <a:t>运营端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487168"/>
            <a:ext cx="260604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论坛互动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Microsoft YaHei"/>
              </a:rPr>
              <a:t>支持帖子浏览、交流讨论与学习社区沉淀。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后台管理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Microsoft YaHei"/>
              </a:rPr>
              <a:t>题目、科目、用户与系统数据可统一查看与管理。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移动延展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Microsoft YaHei"/>
              </a:rPr>
              <a:t>微信小程序基于同一后端语义，承接随时随地学习场景。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系统架构：单仓全栈、双端共享、容器化可复现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Microsoft YaHei"/>
              </a:rPr>
              <a:t>不是前后端分离多仓拼装，而是一套围绕业务模块组织的工程系统。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56832" y="1792224"/>
            <a:ext cx="4937760" cy="29443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29984" y="1865376"/>
            <a:ext cx="479145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12280" y="1924812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22008" y="1924812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31736" y="1924812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87184" y="1883664"/>
            <a:ext cx="41879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系统架构图</a:t>
            </a:r>
          </a:p>
        </p:txBody>
      </p:sp>
      <p:pic>
        <p:nvPicPr>
          <p:cNvPr id="13" name="Picture 12" descr="系统架构图-783x3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2157984"/>
            <a:ext cx="4773168" cy="248716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656832" y="4828032"/>
            <a:ext cx="4937760" cy="12984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29984" y="4901184"/>
            <a:ext cx="479145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12280" y="4960620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22008" y="4960620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4960620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4" y="4919472"/>
            <a:ext cx="41879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核心用户流程</a:t>
            </a:r>
          </a:p>
        </p:txBody>
      </p:sp>
      <p:pic>
        <p:nvPicPr>
          <p:cNvPr id="20" name="Picture 19" descr="核心用户流程-783x1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5193792"/>
            <a:ext cx="4773168" cy="84124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58368" y="1883664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" y="2048256"/>
            <a:ext cx="310896" cy="310896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0574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029968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应用层：Web + 微信原生小程序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2395728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Web 采用 Flask + Jinja 服务端渲染，小程序采用微信原生 TS，两个端共享同一后端语义。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2907792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2960" y="3072384"/>
            <a:ext cx="310896" cy="310896"/>
          </a:xfrm>
          <a:prstGeom prst="ellipse">
            <a:avLst/>
          </a:prstGeom>
          <a:solidFill>
            <a:srgbClr val="A7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081528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054096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服务层：Flask 应用工厂 + Blueprint 模块化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419856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已注册 auth、main、quiz、exam、user、chat、notifications、popups、coding、user_bank、forum、admin 等 12 个模块。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3931920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FD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105656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25296" y="4078224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数据层：PostgreSQL + Redis + 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443984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PostgreSQL 存储题库与学习数据，Redis 承担缓存/限流/队列，RQ Worker 处理后台任务。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56048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60" y="5120640"/>
            <a:ext cx="310896" cy="31089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12978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102352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交付层：Docker Compose 开发编排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468112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compose.dev.yml 统一拉起 web、worker、postgres、redis、backup，便于演示、复现与现场切换。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核心功能闭环：从题库沉淀到数据复盘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围绕学习者与运营者共同构建完整业务流程。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48840"/>
            <a:ext cx="1755648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题库广场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浏览系统题库与公开题库，快速进入学习入口。</a:t>
            </a:r>
          </a:p>
        </p:txBody>
      </p:sp>
      <p:sp>
        <p:nvSpPr>
          <p:cNvPr id="12" name="Chevron 11"/>
          <p:cNvSpPr/>
          <p:nvPr/>
        </p:nvSpPr>
        <p:spPr>
          <a:xfrm>
            <a:off x="2432304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0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2148840"/>
            <a:ext cx="1755648" cy="73152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BC0BE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个人题库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24912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沉淀自建/已加入题库，形成个人长期资源库。</a:t>
            </a:r>
          </a:p>
        </p:txBody>
      </p:sp>
      <p:sp>
        <p:nvSpPr>
          <p:cNvPr id="18" name="Chevron 17"/>
          <p:cNvSpPr/>
          <p:nvPr/>
        </p:nvSpPr>
        <p:spPr>
          <a:xfrm>
            <a:off x="4334256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62272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62272" y="2148840"/>
            <a:ext cx="1755648" cy="73152"/>
          </a:xfrm>
          <a:prstGeom prst="rect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6864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6B36A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刷题训练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6864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支持题目练习、收藏、错题与答案记录。</a:t>
            </a:r>
          </a:p>
        </p:txBody>
      </p:sp>
      <p:sp>
        <p:nvSpPr>
          <p:cNvPr id="24" name="Chevron 23"/>
          <p:cNvSpPr/>
          <p:nvPr/>
        </p:nvSpPr>
        <p:spPr>
          <a:xfrm>
            <a:off x="6236208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64224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64224" y="2148840"/>
            <a:ext cx="1755648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模拟考试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816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按公共题库或个人题库发起考试训练。</a:t>
            </a:r>
          </a:p>
        </p:txBody>
      </p:sp>
      <p:sp>
        <p:nvSpPr>
          <p:cNvPr id="30" name="Chevron 29"/>
          <p:cNvSpPr/>
          <p:nvPr/>
        </p:nvSpPr>
        <p:spPr>
          <a:xfrm>
            <a:off x="8138160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66176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66176" y="2148840"/>
            <a:ext cx="1755648" cy="73152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BC0BE"/>
                </a:solidFill>
                <a:latin typeface="Apto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数据中心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趋势图、热力图、能力画像帮助用户复盘。</a:t>
            </a:r>
          </a:p>
        </p:txBody>
      </p:sp>
      <p:sp>
        <p:nvSpPr>
          <p:cNvPr id="36" name="Chevron 35"/>
          <p:cNvSpPr/>
          <p:nvPr/>
        </p:nvSpPr>
        <p:spPr>
          <a:xfrm>
            <a:off x="10040112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68128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68128" y="2148840"/>
            <a:ext cx="1755648" cy="73152"/>
          </a:xfrm>
          <a:prstGeom prst="rect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20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6B36A"/>
                </a:solidFill>
                <a:latin typeface="Apto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论坛 / 后台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支持交流互动与系统运营管理，形成支撑面。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8992" y="4800600"/>
            <a:ext cx="10058400" cy="98755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53312" y="5029200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102A43"/>
                </a:solidFill>
                <a:latin typeface="Microsoft YaHei"/>
              </a:rPr>
              <a:t>闭环价值：让“资源组织 → 高频训练 → 阶段评估 → 可视化复盘 → 社区互动 / 运营支撑”在同一系统中连续发生。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SHOWCASE 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真实界面展示：学习入口与题库资产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以下截图均来自作品真实运行界面。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5440680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01952"/>
            <a:ext cx="529437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46908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首页工作台</a:t>
            </a:r>
          </a:p>
        </p:txBody>
      </p:sp>
      <p:pic>
        <p:nvPicPr>
          <p:cNvPr id="13" name="Picture 12" descr="首页工作台-865x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194560"/>
            <a:ext cx="5276088" cy="158191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355080" y="1828800"/>
            <a:ext cx="5175504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28232" y="1901952"/>
            <a:ext cx="502920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0528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20256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29984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5432" y="1920240"/>
            <a:ext cx="44256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题库广场</a:t>
            </a:r>
          </a:p>
        </p:txBody>
      </p:sp>
      <p:pic>
        <p:nvPicPr>
          <p:cNvPr id="20" name="Picture 19" descr="题库广场-822x2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2194560"/>
            <a:ext cx="5010912" cy="1581912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58368" y="4069080"/>
            <a:ext cx="5440680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4142232"/>
            <a:ext cx="529437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3816" y="42016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2016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33272" y="42016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160520"/>
            <a:ext cx="46908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题库详情（名片页）</a:t>
            </a:r>
          </a:p>
        </p:txBody>
      </p:sp>
      <p:pic>
        <p:nvPicPr>
          <p:cNvPr id="27" name="Picture 26" descr="题库详情（名片页）-865x2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434840"/>
            <a:ext cx="5276088" cy="158191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355080" y="4069080"/>
            <a:ext cx="5175504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8232" y="4142232"/>
            <a:ext cx="502920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10528" y="42016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20256" y="42016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42016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85432" y="4160520"/>
            <a:ext cx="44256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我的题库</a:t>
            </a:r>
          </a:p>
        </p:txBody>
      </p:sp>
      <p:pic>
        <p:nvPicPr>
          <p:cNvPr id="34" name="Picture 33" descr="我的题库-822x2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376" y="4434840"/>
            <a:ext cx="5010912" cy="1581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SHOWCASE 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真实界面展示：复盘分析、考试与平台支撑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数据中心、考试、论坛与后台共同构成完整应用闭环。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5532120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01952"/>
            <a:ext cx="538581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4782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数据中心</a:t>
            </a:r>
          </a:p>
        </p:txBody>
      </p:sp>
      <p:pic>
        <p:nvPicPr>
          <p:cNvPr id="13" name="Picture 12" descr="数据中心-880x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194560"/>
            <a:ext cx="5367528" cy="158191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327648" y="1828800"/>
            <a:ext cx="5202936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1901952"/>
            <a:ext cx="5056632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92824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2552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1920240"/>
            <a:ext cx="4453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考试中心</a:t>
            </a:r>
          </a:p>
        </p:txBody>
      </p:sp>
      <p:pic>
        <p:nvPicPr>
          <p:cNvPr id="20" name="Picture 19" descr="考试中心-826x2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194560"/>
            <a:ext cx="5038344" cy="1581912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58368" y="4069080"/>
            <a:ext cx="5532120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4142232"/>
            <a:ext cx="538581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3816" y="42016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2016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33272" y="42016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160520"/>
            <a:ext cx="4782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论坛互动</a:t>
            </a:r>
          </a:p>
        </p:txBody>
      </p:sp>
      <p:pic>
        <p:nvPicPr>
          <p:cNvPr id="27" name="Picture 26" descr="论坛互动-880x2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434840"/>
            <a:ext cx="5367528" cy="158191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327648" y="4069080"/>
            <a:ext cx="5202936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0" y="4142232"/>
            <a:ext cx="5056632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83096" y="42016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92824" y="42016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02552" y="42016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4160520"/>
            <a:ext cx="4453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后台仪表盘</a:t>
            </a:r>
          </a:p>
        </p:txBody>
      </p:sp>
      <p:pic>
        <p:nvPicPr>
          <p:cNvPr id="34" name="Picture 33" descr="后台仪表盘-826x2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944" y="4434840"/>
            <a:ext cx="5038344" cy="1581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CROSS-END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双端协同：Web 主体 + 小程序延展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Microsoft YaHei"/>
              </a:rPr>
              <a:t>展示主体是 Web；移动端延展同样复用同一套后端与数据语义。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55648"/>
            <a:ext cx="2066543" cy="4407408"/>
          </a:xfrm>
          <a:prstGeom prst="roundRect">
            <a:avLst>
              <a:gd name="adj" fmla="val 22000"/>
            </a:avLst>
          </a:prstGeom>
          <a:solidFill>
            <a:srgbClr val="0B1120"/>
          </a:solidFill>
          <a:ln w="19050">
            <a:solidFill>
              <a:srgbClr val="28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8" y="1901952"/>
            <a:ext cx="1847087" cy="4114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99032" y="1828800"/>
            <a:ext cx="1005839" cy="73152"/>
          </a:xfrm>
          <a:prstGeom prst="roundRect">
            <a:avLst>
              <a:gd name="adj" fmla="val 40000"/>
            </a:avLst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hone-303x6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1901952"/>
            <a:ext cx="1847087" cy="4114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310128" y="2011680"/>
            <a:ext cx="4078224" cy="2743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2084832"/>
            <a:ext cx="393192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65576" y="21442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5304" y="21442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85032" y="21442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2103120"/>
            <a:ext cx="33284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Web 首页（响应式壳层）</a:t>
            </a:r>
          </a:p>
        </p:txBody>
      </p:sp>
      <p:pic>
        <p:nvPicPr>
          <p:cNvPr id="17" name="Picture 16" descr="Web 首页（响应式壳层）-642x3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2377440"/>
            <a:ext cx="3913632" cy="22860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662672" y="1883664"/>
            <a:ext cx="3886200" cy="4297680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24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79" y="2139696"/>
            <a:ext cx="1325880" cy="292608"/>
          </a:xfrm>
          <a:prstGeom prst="roundRect">
            <a:avLst>
              <a:gd name="adj" fmla="val 35000"/>
            </a:avLst>
          </a:prstGeom>
          <a:solidFill>
            <a:srgbClr val="243656"/>
          </a:solidFill>
          <a:ln w="12700">
            <a:solidFill>
              <a:srgbClr val="3952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7" y="2194560"/>
            <a:ext cx="1106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9E5F5"/>
                </a:solidFill>
                <a:latin typeface="Microsoft YaHei"/>
              </a:rPr>
              <a:t>共享关键语义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578608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收藏 / 错题 / 用户答案 / 用户进度 / 模拟考试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Microsoft YaHei"/>
              </a:rPr>
              <a:t>• Web 端承担主要交互与展示，是参赛主体。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Microsoft YaHei"/>
              </a:rPr>
              <a:t>• 小程序按高频移动学习场景延展，减少语义割裂。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Microsoft YaHei"/>
              </a:rPr>
              <a:t>• 统一经过后端与接口封装，降低维护与演示成本。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5230368"/>
            <a:ext cx="1591056" cy="84124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5367528"/>
            <a:ext cx="1133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SSR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797296"/>
            <a:ext cx="11338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Web 形态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6099048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Flask + Jinja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5230368"/>
            <a:ext cx="1591056" cy="84124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5367528"/>
            <a:ext cx="1133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JWT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5797296"/>
            <a:ext cx="11338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API / 小程序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099048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Bearer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关键亮点：工程化表达与应用价值并重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在题库系统常见能力之外，重点强化共享语义、可复现交付与学习辅助增强。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194560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037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176272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共享数据语义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323697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公共题库、个人题库、题目、收藏、错题、答案、进度、考试等能力在 Web 与小程序两端保持同一套后端语义，降低维护复杂度，也让学习记录真正可连续。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0560" y="2194560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2037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176272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Docker 化可复现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542032"/>
            <a:ext cx="323697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开发环境默认通过 compose.dev.yml 统一拉起 web、worker、postgres、redis、backup。无论课堂演示、现场答辩还是后续交付，都能更稳定地复现运行环境。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8160" y="2194560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2037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176272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AI 题解增强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542032"/>
            <a:ext cx="323697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在传统刷题流程上补充 AI 题目解析接口，用于帮助理解题目与知识点，强调“学会”而不只是“做完”，提升平台在教学和备考场景中的延展价值。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工程验证与答辩可演示性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答辩现场不仅要讲清功能，还要展示项目具备稳定运行与工程交付能力。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8000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71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Web 暴露端口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889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compose.dev.yml：flask run --reload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2384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/api/ping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0984" y="24871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健康检查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984" y="27889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支持基础与 deep=1 检查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6B36A"/>
                </a:solidFill>
                <a:latin typeface="Aptos"/>
              </a:rPr>
              <a:t>PostgreSQL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24871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开发默认数据库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27889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Redis + RQ 协同运行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6" y="1920240"/>
            <a:ext cx="274320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9016" y="205740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5 项服务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2487168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容器编排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9016" y="27889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web / worker / postgres / redis / backup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493008"/>
            <a:ext cx="5257800" cy="2651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" y="3730752"/>
            <a:ext cx="1143000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85616"/>
            <a:ext cx="923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推荐演示顺序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151376"/>
            <a:ext cx="4526280" cy="1664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Microsoft YaHei"/>
              </a:rPr>
              <a:t>首页 → 题库广场 → 题库详情 → 我的题库 → 数据中心 → 考试中心 → 论坛 → 后台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17324D"/>
                </a:solidFill>
                <a:latin typeface="Microsoft YaHei"/>
              </a:rPr>
              <a:t>正式访问地址：https://saksk.top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17324D"/>
                </a:solidFill>
                <a:latin typeface="Microsoft YaHei"/>
              </a:rPr>
              <a:t>本地演示备用：http://127.0.0.1:8000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493008"/>
            <a:ext cx="5394960" cy="2651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19088" y="3730752"/>
            <a:ext cx="1143000" cy="292608"/>
          </a:xfrm>
          <a:prstGeom prst="roundRect">
            <a:avLst>
              <a:gd name="adj" fmla="val 35000"/>
            </a:avLst>
          </a:prstGeom>
          <a:solidFill>
            <a:srgbClr val="EEF9F6"/>
          </a:solidFill>
          <a:ln w="12700">
            <a:solidFill>
              <a:srgbClr val="CFE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3785616"/>
            <a:ext cx="923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34A58D"/>
                </a:solidFill>
                <a:latin typeface="Microsoft YaHei"/>
              </a:rPr>
              <a:t>工程事实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11480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Web 是主体交互端，采用 Flask + Jinja SSR。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小程序为微信原生工程，作为移动场景延展。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应用工厂 + Blueprint 模块化，便于后续扩展。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新接口遵循 status / code / data / message 信封结构。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58368" y="566928"/>
            <a:ext cx="1828800" cy="310896"/>
          </a:xfrm>
          <a:prstGeom prst="roundRect">
            <a:avLst>
              <a:gd name="adj" fmla="val 35000"/>
            </a:avLst>
          </a:prstGeom>
          <a:solidFill>
            <a:srgbClr val="1A2845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62179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DDE7FF"/>
                </a:solidFill>
                <a:latin typeface="Microsoft YaHe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Sak-AI答题助手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DDE7FF"/>
                </a:solidFill>
                <a:latin typeface="Microsoft YaHei"/>
              </a:rPr>
              <a:t>让题库沉淀、刷题训练、模拟考试、数据复盘与平台运营在一个系统中完整闭环。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8C7DC"/>
                </a:solidFill>
                <a:latin typeface="Microsoft YaHei"/>
              </a:rPr>
              <a:t>谢谢各位老师指导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822191"/>
            <a:ext cx="5120640" cy="1572768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133087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AFC2DD"/>
                </a:solidFill>
                <a:latin typeface="Microsoft YaHei"/>
              </a:rPr>
              <a:t>正式访问地址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ptos"/>
              </a:rPr>
              <a:t>https://saksk.top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8C7DC"/>
                </a:solidFill>
                <a:latin typeface="Microsoft YaHei"/>
              </a:rPr>
              <a:t>现场网络受限时可切换本地 Docker 演示环境。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987552"/>
            <a:ext cx="5084064" cy="2871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11112" y="1060704"/>
            <a:ext cx="493776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93408" y="1120140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03136" y="1120140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12864" y="1120140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2" y="1078992"/>
            <a:ext cx="43342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首页工作台</a:t>
            </a:r>
          </a:p>
        </p:txBody>
      </p:sp>
      <p:pic>
        <p:nvPicPr>
          <p:cNvPr id="14" name="Picture 13" descr="首页工作台-807x3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1353312"/>
            <a:ext cx="4919472" cy="241401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76288" y="3986784"/>
            <a:ext cx="3127248" cy="19385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4059936"/>
            <a:ext cx="2980944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31736" y="4119372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41464" y="4119372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1192" y="4119372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40782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后台仪表盘</a:t>
            </a:r>
          </a:p>
        </p:txBody>
      </p:sp>
      <p:pic>
        <p:nvPicPr>
          <p:cNvPr id="21" name="Picture 20" descr="后台仪表盘-486x2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4352544"/>
            <a:ext cx="2962656" cy="148132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10094976" y="3675887"/>
            <a:ext cx="1627632" cy="2249424"/>
          </a:xfrm>
          <a:prstGeom prst="roundRect">
            <a:avLst>
              <a:gd name="adj" fmla="val 22000"/>
            </a:avLst>
          </a:prstGeom>
          <a:solidFill>
            <a:srgbClr val="0B1120"/>
          </a:solidFill>
          <a:ln w="19050">
            <a:solidFill>
              <a:srgbClr val="28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204704" y="3822191"/>
            <a:ext cx="1408176" cy="19568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625328" y="3749039"/>
            <a:ext cx="566928" cy="73152"/>
          </a:xfrm>
          <a:prstGeom prst="roundRect">
            <a:avLst>
              <a:gd name="adj" fmla="val 40000"/>
            </a:avLst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ne-231x3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4" y="3822191"/>
            <a:ext cx="1408176" cy="195681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Sak-AI答题助手-答辩演示PPT</dc:title>
  <dc:subject>软件应用与开发 - Web 应用与开发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